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0" r:id="rId5"/>
    <p:sldId id="262" r:id="rId6"/>
    <p:sldId id="263" r:id="rId7"/>
    <p:sldId id="259" r:id="rId8"/>
    <p:sldId id="260" r:id="rId9"/>
    <p:sldId id="261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43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2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509760" y="-2057400"/>
            <a:ext cx="6583680" cy="6309360"/>
          </a:xfrm>
          <a:prstGeom prst="ellipse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50880" y="-960120"/>
            <a:ext cx="3169920" cy="3017520"/>
          </a:xfrm>
          <a:prstGeom prst="ellipse">
            <a:avLst/>
          </a:prstGeom>
          <a:solidFill>
            <a:srgbClr val="2B5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70560" y="6343650"/>
            <a:ext cx="10850880" cy="17145"/>
          </a:xfrm>
          <a:prstGeom prst="rect">
            <a:avLst/>
          </a:prstGeom>
          <a:solidFill>
            <a:srgbClr val="29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560" y="4114800"/>
            <a:ext cx="6096000" cy="1783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242560" y="4114800"/>
            <a:ext cx="6096000" cy="1783080"/>
          </a:xfrm>
          <a:prstGeom prst="rect">
            <a:avLst/>
          </a:prstGeom>
          <a:solidFill>
            <a:srgbClr val="0E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0560" y="1577340"/>
            <a:ext cx="7924800" cy="617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100" b="1">
                <a:solidFill>
                  <a:srgbClr val="F4F7FA"/>
                </a:solidFill>
                <a:latin typeface="Roboto Condensed"/>
              </a:rPr>
              <a:t>Optimización Energética Industrial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560" y="233172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>
                <a:solidFill>
                  <a:srgbClr val="39C5F6"/>
                </a:solidFill>
                <a:latin typeface="Roboto Condensed"/>
              </a:rPr>
              <a:t>Del dato a la decisión económica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670560" y="3360420"/>
            <a:ext cx="36576" cy="11658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360420"/>
            <a:ext cx="6164826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700" dirty="0">
                <a:solidFill>
                  <a:srgbClr val="F4F7FA"/>
                </a:solidFill>
                <a:latin typeface="Roboto Condensed"/>
              </a:rPr>
              <a:t>EDA </a:t>
            </a:r>
            <a:r>
              <a:rPr sz="1700" dirty="0" err="1">
                <a:solidFill>
                  <a:srgbClr val="F4F7FA"/>
                </a:solidFill>
                <a:latin typeface="Roboto Condensed"/>
              </a:rPr>
              <a:t>aplicado</a:t>
            </a:r>
            <a:r>
              <a:rPr sz="1700" dirty="0">
                <a:solidFill>
                  <a:srgbClr val="F4F7FA"/>
                </a:solidFill>
                <a:latin typeface="Roboto Condensed"/>
              </a:rPr>
              <a:t> a </a:t>
            </a:r>
            <a:r>
              <a:rPr sz="1700" dirty="0" err="1">
                <a:solidFill>
                  <a:srgbClr val="F4F7FA"/>
                </a:solidFill>
                <a:latin typeface="Roboto Condensed"/>
              </a:rPr>
              <a:t>consumo</a:t>
            </a:r>
            <a:r>
              <a:rPr sz="1700" dirty="0">
                <a:solidFill>
                  <a:srgbClr val="F4F7FA"/>
                </a:solidFill>
                <a:latin typeface="Roboto Condensed"/>
              </a:rPr>
              <a:t>, </a:t>
            </a:r>
            <a:r>
              <a:rPr sz="1700" dirty="0" err="1">
                <a:solidFill>
                  <a:srgbClr val="F4F7FA"/>
                </a:solidFill>
                <a:latin typeface="Roboto Condensed"/>
              </a:rPr>
              <a:t>tarifa</a:t>
            </a:r>
            <a:r>
              <a:rPr sz="1700" dirty="0">
                <a:solidFill>
                  <a:srgbClr val="F4F7FA"/>
                </a:solidFill>
                <a:latin typeface="Roboto Condensed"/>
              </a:rPr>
              <a:t>, </a:t>
            </a:r>
            <a:r>
              <a:rPr sz="1700" dirty="0" err="1">
                <a:solidFill>
                  <a:srgbClr val="F4F7FA"/>
                </a:solidFill>
                <a:latin typeface="Roboto Condensed"/>
              </a:rPr>
              <a:t>calendario</a:t>
            </a:r>
            <a:r>
              <a:rPr sz="1700" dirty="0">
                <a:solidFill>
                  <a:srgbClr val="F4F7FA"/>
                </a:solidFill>
                <a:latin typeface="Roboto Condensed"/>
              </a:rPr>
              <a:t> y </a:t>
            </a:r>
            <a:r>
              <a:rPr sz="1700" dirty="0" err="1">
                <a:solidFill>
                  <a:srgbClr val="F4F7FA"/>
                </a:solidFill>
                <a:latin typeface="Roboto Condensed"/>
              </a:rPr>
              <a:t>coste</a:t>
            </a:r>
            <a:r>
              <a:rPr lang="es-ES" sz="1700" dirty="0">
                <a:solidFill>
                  <a:srgbClr val="F4F7FA"/>
                </a:solidFill>
                <a:latin typeface="Roboto Condensed"/>
              </a:rPr>
              <a:t> </a:t>
            </a:r>
            <a:r>
              <a:rPr lang="es-ES" sz="1700" dirty="0" err="1">
                <a:solidFill>
                  <a:srgbClr val="F4F7FA"/>
                </a:solidFill>
                <a:latin typeface="Roboto Condensed"/>
              </a:rPr>
              <a:t>electrico</a:t>
            </a:r>
            <a:r>
              <a:rPr sz="1700" dirty="0">
                <a:solidFill>
                  <a:srgbClr val="F4F7FA"/>
                </a:solidFill>
                <a:latin typeface="Roboto Condensed"/>
              </a:rPr>
              <a:t> </a:t>
            </a:r>
            <a:r>
              <a:rPr sz="1700" dirty="0" err="1">
                <a:solidFill>
                  <a:srgbClr val="F4F7FA"/>
                </a:solidFill>
                <a:latin typeface="Roboto Condensed"/>
              </a:rPr>
              <a:t>estimado</a:t>
            </a:r>
            <a:r>
              <a:rPr sz="1700" dirty="0">
                <a:solidFill>
                  <a:srgbClr val="F4F7FA"/>
                </a:solidFill>
                <a:latin typeface="Roboto Condensed"/>
              </a:rPr>
              <a:t>.</a:t>
            </a:r>
          </a:p>
          <a:p>
            <a:r>
              <a:rPr sz="1700" dirty="0">
                <a:solidFill>
                  <a:srgbClr val="F4F7FA"/>
                </a:solidFill>
                <a:latin typeface="Roboto Condensed"/>
              </a:rPr>
              <a:t>Una </a:t>
            </a:r>
            <a:r>
              <a:rPr sz="1700" dirty="0" err="1">
                <a:solidFill>
                  <a:srgbClr val="F4F7FA"/>
                </a:solidFill>
                <a:latin typeface="Roboto Condensed"/>
              </a:rPr>
              <a:t>visión</a:t>
            </a:r>
            <a:r>
              <a:rPr sz="1700" dirty="0">
                <a:solidFill>
                  <a:srgbClr val="F4F7FA"/>
                </a:solidFill>
                <a:latin typeface="Roboto Condensed"/>
              </a:rPr>
              <a:t> industrial para </a:t>
            </a:r>
            <a:r>
              <a:rPr sz="1700" dirty="0" err="1">
                <a:solidFill>
                  <a:srgbClr val="F4F7FA"/>
                </a:solidFill>
                <a:latin typeface="Roboto Condensed"/>
              </a:rPr>
              <a:t>decidir</a:t>
            </a:r>
            <a:r>
              <a:rPr sz="1700" dirty="0">
                <a:solidFill>
                  <a:srgbClr val="F4F7FA"/>
                </a:solidFill>
                <a:latin typeface="Roboto Condensed"/>
              </a:rPr>
              <a:t> </a:t>
            </a:r>
            <a:r>
              <a:rPr sz="1700" dirty="0" err="1">
                <a:solidFill>
                  <a:srgbClr val="F4F7FA"/>
                </a:solidFill>
                <a:latin typeface="Roboto Condensed"/>
              </a:rPr>
              <a:t>cuándo</a:t>
            </a:r>
            <a:r>
              <a:rPr sz="1700" dirty="0">
                <a:solidFill>
                  <a:srgbClr val="F4F7FA"/>
                </a:solidFill>
                <a:latin typeface="Roboto Condensed"/>
              </a:rPr>
              <a:t> </a:t>
            </a:r>
            <a:r>
              <a:rPr sz="1700" dirty="0" err="1">
                <a:solidFill>
                  <a:srgbClr val="F4F7FA"/>
                </a:solidFill>
                <a:latin typeface="Roboto Condensed"/>
              </a:rPr>
              <a:t>consumir</a:t>
            </a:r>
            <a:r>
              <a:rPr sz="1700" dirty="0">
                <a:solidFill>
                  <a:srgbClr val="F4F7FA"/>
                </a:solidFill>
                <a:latin typeface="Roboto Condense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" y="6240780"/>
            <a:ext cx="6705600" cy="205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7B2C0"/>
                </a:solidFill>
                <a:latin typeface="Montserrat"/>
              </a:rPr>
              <a:t>PROYECTO EDA · ANÁLISIS ENERGÉTICO INDUSTRIAL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16640" y="6172200"/>
            <a:ext cx="609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F4F7FA"/>
                </a:solidFill>
                <a:latin typeface="Roboto Condense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2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509760" y="-2057400"/>
            <a:ext cx="6583680" cy="6309360"/>
          </a:xfrm>
          <a:prstGeom prst="ellipse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50880" y="-960120"/>
            <a:ext cx="3169920" cy="3017520"/>
          </a:xfrm>
          <a:prstGeom prst="ellipse">
            <a:avLst/>
          </a:prstGeom>
          <a:solidFill>
            <a:srgbClr val="2B5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70560" y="6343650"/>
            <a:ext cx="10850880" cy="17145"/>
          </a:xfrm>
          <a:prstGeom prst="rect">
            <a:avLst/>
          </a:prstGeom>
          <a:solidFill>
            <a:srgbClr val="29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0560" y="397764"/>
            <a:ext cx="10241280" cy="480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1">
                <a:solidFill>
                  <a:srgbClr val="39C5F6"/>
                </a:solidFill>
                <a:latin typeface="Roboto Condensed"/>
              </a:rPr>
              <a:t>01. EL PROBLEMA: LA FACTURA NO EXPLICA LA PLANTA</a:t>
            </a:r>
          </a:p>
        </p:txBody>
      </p:sp>
      <p:sp>
        <p:nvSpPr>
          <p:cNvPr id="6" name="Rectangle 5"/>
          <p:cNvSpPr/>
          <p:nvPr/>
        </p:nvSpPr>
        <p:spPr>
          <a:xfrm>
            <a:off x="670560" y="946404"/>
            <a:ext cx="1085088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0560" y="6480810"/>
            <a:ext cx="5120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7B2C0"/>
                </a:solidFill>
                <a:latin typeface="Montserrat"/>
              </a:rPr>
              <a:t>EDA · Optimización Energética Industrial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0508"/>
            <a:ext cx="609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F4F7FA"/>
                </a:solidFill>
                <a:latin typeface="Roboto Condensed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60" y="1234440"/>
            <a:ext cx="670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>
                <a:solidFill>
                  <a:srgbClr val="F4F7FA"/>
                </a:solidFill>
                <a:latin typeface="Roboto Condensed"/>
              </a:rPr>
              <a:t>La factura solo dice cuánto pagas; el EDA te dice por qué.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60" y="1851660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>
                <a:solidFill>
                  <a:srgbClr val="F4F7FA"/>
                </a:solidFill>
                <a:latin typeface="Roboto Condensed"/>
              </a:rPr>
              <a:t>En industria, el coste eléctrico depende de consumo, calendario, periodos horarios y condiciones operativas. La factura resume el importe, pero no revela qué parte del patrón operativo lo genera.</a:t>
            </a:r>
          </a:p>
        </p:txBody>
      </p:sp>
      <p:sp>
        <p:nvSpPr>
          <p:cNvPr id="11" name="Oval 10"/>
          <p:cNvSpPr/>
          <p:nvPr/>
        </p:nvSpPr>
        <p:spPr>
          <a:xfrm>
            <a:off x="670560" y="3205480"/>
            <a:ext cx="76200" cy="762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8360" y="3154680"/>
            <a:ext cx="46990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>
                <a:solidFill>
                  <a:srgbClr val="F4F7FA"/>
                </a:solidFill>
                <a:latin typeface="Roboto Condensed"/>
              </a:rPr>
              <a:t>El coste depende del cuándo y del cuánto.</a:t>
            </a:r>
          </a:p>
        </p:txBody>
      </p:sp>
      <p:sp>
        <p:nvSpPr>
          <p:cNvPr id="13" name="Oval 12"/>
          <p:cNvSpPr/>
          <p:nvPr/>
        </p:nvSpPr>
        <p:spPr>
          <a:xfrm>
            <a:off x="670560" y="3754120"/>
            <a:ext cx="76200" cy="762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8360" y="3703320"/>
            <a:ext cx="46990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>
                <a:solidFill>
                  <a:srgbClr val="F4F7FA"/>
                </a:solidFill>
                <a:latin typeface="Roboto Condensed"/>
              </a:rPr>
              <a:t>P1-P6 cambian por mes, hora y tipo de día.</a:t>
            </a:r>
          </a:p>
        </p:txBody>
      </p:sp>
      <p:sp>
        <p:nvSpPr>
          <p:cNvPr id="15" name="Oval 14"/>
          <p:cNvSpPr/>
          <p:nvPr/>
        </p:nvSpPr>
        <p:spPr>
          <a:xfrm>
            <a:off x="670560" y="4302760"/>
            <a:ext cx="76200" cy="762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8360" y="4251960"/>
            <a:ext cx="46990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>
                <a:solidFill>
                  <a:srgbClr val="F4F7FA"/>
                </a:solidFill>
                <a:latin typeface="Roboto Condensed"/>
              </a:rPr>
              <a:t>Oportunidad: pasar de factura a palancas operativas.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4080" y="1303020"/>
            <a:ext cx="3291840" cy="3291840"/>
          </a:xfrm>
          <a:prstGeom prst="roundRect">
            <a:avLst/>
          </a:prstGeom>
          <a:solidFill>
            <a:srgbClr val="16304B"/>
          </a:solidFill>
          <a:ln>
            <a:solidFill>
              <a:srgbClr val="486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factura_bl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960" y="1605160"/>
            <a:ext cx="2926080" cy="2070339"/>
          </a:xfrm>
          <a:prstGeom prst="rect">
            <a:avLst/>
          </a:prstGeom>
        </p:spPr>
      </p:pic>
      <p:pic>
        <p:nvPicPr>
          <p:cNvPr id="19" name="Picture 18" descr="lupa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8640" y="2880360"/>
            <a:ext cx="2194560" cy="3901440"/>
          </a:xfrm>
          <a:prstGeom prst="rect">
            <a:avLst/>
          </a:prstGeom>
        </p:spPr>
      </p:pic>
      <p:sp>
        <p:nvSpPr>
          <p:cNvPr id="20" name="Oval 19"/>
          <p:cNvSpPr/>
          <p:nvPr/>
        </p:nvSpPr>
        <p:spPr>
          <a:xfrm>
            <a:off x="8168640" y="2880360"/>
            <a:ext cx="2194560" cy="2194560"/>
          </a:xfrm>
          <a:prstGeom prst="ellipse">
            <a:avLst/>
          </a:prstGeom>
          <a:noFill/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Straight Connector 20"/>
          <p:cNvSpPr/>
          <p:nvPr/>
        </p:nvSpPr>
        <p:spPr>
          <a:xfrm>
            <a:off x="9875520" y="4663440"/>
            <a:ext cx="10728960" cy="5349240"/>
          </a:xfrm>
          <a:prstGeom prst="lineInv">
            <a:avLst/>
          </a:prstGeom>
          <a:ln w="508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509760" y="1371600"/>
            <a:ext cx="2072640" cy="1508760"/>
          </a:xfrm>
          <a:prstGeom prst="roundRect">
            <a:avLst/>
          </a:prstGeom>
          <a:solidFill>
            <a:srgbClr val="16304B"/>
          </a:solidFill>
          <a:ln>
            <a:solidFill>
              <a:srgbClr val="486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P1-P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7067" y="1465966"/>
            <a:ext cx="1998024" cy="132002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19200" y="5932170"/>
            <a:ext cx="975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>
                <a:solidFill>
                  <a:srgbClr val="D4AF37"/>
                </a:solidFill>
                <a:latin typeface="Roboto Condensed"/>
              </a:rPr>
              <a:t>Mensaje: la oportunidad no está en el importe final, sino en reconstruir cuándo y cómo se consume.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2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509760" y="-2057400"/>
            <a:ext cx="6583680" cy="6309360"/>
          </a:xfrm>
          <a:prstGeom prst="ellipse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50880" y="-960120"/>
            <a:ext cx="3169920" cy="3017520"/>
          </a:xfrm>
          <a:prstGeom prst="ellipse">
            <a:avLst/>
          </a:prstGeom>
          <a:solidFill>
            <a:srgbClr val="2B5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70560" y="6343650"/>
            <a:ext cx="10850880" cy="17145"/>
          </a:xfrm>
          <a:prstGeom prst="rect">
            <a:avLst/>
          </a:prstGeom>
          <a:solidFill>
            <a:srgbClr val="29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0560" y="397764"/>
            <a:ext cx="10241280" cy="480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 dirty="0">
                <a:solidFill>
                  <a:srgbClr val="39CAFF"/>
                </a:solidFill>
                <a:latin typeface="Montserrat"/>
              </a:rPr>
              <a:t>02. DE LA FACTURA A CUATRO HIPÓTESIS DE DECISIÓN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670560" y="946404"/>
            <a:ext cx="1085088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0560" y="6480810"/>
            <a:ext cx="5120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>
                <a:solidFill>
                  <a:srgbClr val="BECBD7"/>
                </a:solidFill>
                <a:latin typeface="Montserrat"/>
              </a:rPr>
              <a:t>EDA · Optimización Energética Industrial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0508"/>
            <a:ext cx="609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>
                <a:solidFill>
                  <a:srgbClr val="F5F8FC"/>
                </a:solidFill>
                <a:latin typeface="Montserrat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216152"/>
            <a:ext cx="104241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Montserrat"/>
              </a:rPr>
              <a:t>Para no perderse en miles de horas de consumo, el EDA ordena el problema en objetivos medibles y en cuatro hipótesis que guían la decisión.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874519"/>
            <a:ext cx="43434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700" b="1">
                <a:solidFill>
                  <a:srgbClr val="D4AF37"/>
                </a:solidFill>
                <a:latin typeface="Montserrat"/>
              </a:rPr>
              <a:t>Objetivos del análisis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395727"/>
            <a:ext cx="64008" cy="64008"/>
          </a:xfrm>
          <a:prstGeom prst="ellipse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331720"/>
            <a:ext cx="41605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80" b="1">
                <a:solidFill>
                  <a:srgbClr val="F5F8FC"/>
                </a:solidFill>
                <a:latin typeface="Montserrat"/>
              </a:rPr>
              <a:t>Operativo: </a:t>
            </a:r>
            <a:r>
              <a:rPr sz="1280">
                <a:solidFill>
                  <a:srgbClr val="BECBD7"/>
                </a:solidFill>
                <a:latin typeface="Montserrat"/>
              </a:rPr>
              <a:t>entender hora, día, semana y turno.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2825495"/>
            <a:ext cx="64008" cy="64008"/>
          </a:xfrm>
          <a:prstGeom prst="ellipse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2761487"/>
            <a:ext cx="41605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80" b="1">
                <a:solidFill>
                  <a:srgbClr val="F5F8FC"/>
                </a:solidFill>
                <a:latin typeface="Montserrat"/>
              </a:rPr>
              <a:t>Climático: </a:t>
            </a:r>
            <a:r>
              <a:rPr sz="1280">
                <a:solidFill>
                  <a:srgbClr val="BECBD7"/>
                </a:solidFill>
                <a:latin typeface="Montserrat"/>
              </a:rPr>
              <a:t>explorar temperatura, viento y consumo.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3255263"/>
            <a:ext cx="64008" cy="64008"/>
          </a:xfrm>
          <a:prstGeom prst="ellipse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191255"/>
            <a:ext cx="41605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80" b="1">
                <a:solidFill>
                  <a:srgbClr val="F5F8FC"/>
                </a:solidFill>
                <a:latin typeface="Montserrat"/>
              </a:rPr>
              <a:t>Tarifario: </a:t>
            </a:r>
            <a:r>
              <a:rPr sz="1280">
                <a:solidFill>
                  <a:srgbClr val="BECBD7"/>
                </a:solidFill>
                <a:latin typeface="Montserrat"/>
              </a:rPr>
              <a:t>medir exposición a P1-P6.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3685031"/>
            <a:ext cx="64008" cy="64008"/>
          </a:xfrm>
          <a:prstGeom prst="ellipse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621023"/>
            <a:ext cx="41605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80" b="1">
                <a:solidFill>
                  <a:srgbClr val="F5F8FC"/>
                </a:solidFill>
                <a:latin typeface="Montserrat"/>
              </a:rPr>
              <a:t>Económico: </a:t>
            </a:r>
            <a:r>
              <a:rPr sz="1280">
                <a:solidFill>
                  <a:srgbClr val="BECBD7"/>
                </a:solidFill>
                <a:latin typeface="Montserrat"/>
              </a:rPr>
              <a:t>comparar peso de consumo y coste.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4114799"/>
            <a:ext cx="64008" cy="64008"/>
          </a:xfrm>
          <a:prstGeom prst="ellipse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4050791"/>
            <a:ext cx="41605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80" b="1">
                <a:solidFill>
                  <a:srgbClr val="F5F8FC"/>
                </a:solidFill>
                <a:latin typeface="Montserrat"/>
              </a:rPr>
              <a:t>Horario: </a:t>
            </a:r>
            <a:r>
              <a:rPr sz="1280">
                <a:solidFill>
                  <a:srgbClr val="BECBD7"/>
                </a:solidFill>
                <a:latin typeface="Montserrat"/>
              </a:rPr>
              <a:t>simular cambios de turno o arranque.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1783080"/>
            <a:ext cx="4754880" cy="34747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700" b="1">
                <a:solidFill>
                  <a:srgbClr val="D4AF37"/>
                </a:solidFill>
                <a:latin typeface="Montserrat"/>
              </a:rPr>
              <a:t>Hipótesis que estructuran el EDA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2267712"/>
            <a:ext cx="4983480" cy="658368"/>
          </a:xfrm>
          <a:prstGeom prst="roundRect">
            <a:avLst/>
          </a:prstGeom>
          <a:solidFill>
            <a:srgbClr val="1A3A5A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50992" y="2432304"/>
            <a:ext cx="566928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700" b="1">
                <a:solidFill>
                  <a:srgbClr val="D4AF37"/>
                </a:solidFill>
                <a:latin typeface="Montserrat"/>
              </a:rPr>
              <a:t>H1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377440"/>
            <a:ext cx="3886200" cy="43891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50" b="0" dirty="0">
                <a:solidFill>
                  <a:srgbClr val="F5F8FC"/>
                </a:solidFill>
                <a:latin typeface="Montserrat"/>
              </a:rPr>
              <a:t>El </a:t>
            </a:r>
            <a:r>
              <a:rPr sz="1150" b="0" dirty="0" err="1">
                <a:solidFill>
                  <a:srgbClr val="F5F8FC"/>
                </a:solidFill>
                <a:latin typeface="Montserrat"/>
              </a:rPr>
              <a:t>consumo</a:t>
            </a:r>
            <a:r>
              <a:rPr sz="1150" b="0" dirty="0">
                <a:solidFill>
                  <a:srgbClr val="F5F8FC"/>
                </a:solidFill>
                <a:latin typeface="Montserrat"/>
              </a:rPr>
              <a:t> </a:t>
            </a:r>
            <a:r>
              <a:rPr sz="1150" b="0" dirty="0" err="1">
                <a:solidFill>
                  <a:srgbClr val="F5F8FC"/>
                </a:solidFill>
                <a:latin typeface="Montserrat"/>
              </a:rPr>
              <a:t>diario</a:t>
            </a:r>
            <a:r>
              <a:rPr sz="1150" b="0" dirty="0">
                <a:solidFill>
                  <a:srgbClr val="F5F8FC"/>
                </a:solidFill>
                <a:latin typeface="Montserrat"/>
              </a:rPr>
              <a:t> </a:t>
            </a:r>
            <a:r>
              <a:rPr sz="1150" b="0" dirty="0" err="1">
                <a:solidFill>
                  <a:srgbClr val="F5F8FC"/>
                </a:solidFill>
                <a:latin typeface="Montserrat"/>
              </a:rPr>
              <a:t>puede</a:t>
            </a:r>
            <a:r>
              <a:rPr sz="1150" b="0" dirty="0">
                <a:solidFill>
                  <a:srgbClr val="F5F8FC"/>
                </a:solidFill>
                <a:latin typeface="Montserrat"/>
              </a:rPr>
              <a:t> </a:t>
            </a:r>
            <a:r>
              <a:rPr sz="1150" b="0" dirty="0" err="1">
                <a:solidFill>
                  <a:srgbClr val="F5F8FC"/>
                </a:solidFill>
                <a:latin typeface="Montserrat"/>
              </a:rPr>
              <a:t>variar</a:t>
            </a:r>
            <a:r>
              <a:rPr sz="1150" b="0" dirty="0">
                <a:solidFill>
                  <a:srgbClr val="F5F8FC"/>
                </a:solidFill>
                <a:latin typeface="Montserrat"/>
              </a:rPr>
              <a:t> con la </a:t>
            </a:r>
            <a:r>
              <a:rPr sz="1150" b="0" dirty="0" err="1">
                <a:solidFill>
                  <a:srgbClr val="F5F8FC"/>
                </a:solidFill>
                <a:latin typeface="Montserrat"/>
              </a:rPr>
              <a:t>temperatura</a:t>
            </a:r>
            <a:r>
              <a:rPr sz="1150" b="0" dirty="0">
                <a:solidFill>
                  <a:srgbClr val="F5F8FC"/>
                </a:solidFill>
                <a:latin typeface="Montserrat"/>
              </a:rPr>
              <a:t> exterior, </a:t>
            </a:r>
            <a:r>
              <a:rPr sz="1150" b="0" dirty="0" err="1">
                <a:solidFill>
                  <a:srgbClr val="F5F8FC"/>
                </a:solidFill>
                <a:latin typeface="Montserrat"/>
              </a:rPr>
              <a:t>especialmente</a:t>
            </a:r>
            <a:r>
              <a:rPr sz="1150" b="0" dirty="0">
                <a:solidFill>
                  <a:srgbClr val="F5F8FC"/>
                </a:solidFill>
                <a:latin typeface="Montserrat"/>
              </a:rPr>
              <a:t> </a:t>
            </a:r>
            <a:r>
              <a:rPr sz="1150" b="0" dirty="0" err="1">
                <a:solidFill>
                  <a:srgbClr val="F5F8FC"/>
                </a:solidFill>
                <a:latin typeface="Montserrat"/>
              </a:rPr>
              <a:t>en</a:t>
            </a:r>
            <a:r>
              <a:rPr sz="1150" b="0" dirty="0">
                <a:solidFill>
                  <a:srgbClr val="F5F8FC"/>
                </a:solidFill>
                <a:latin typeface="Montserrat"/>
              </a:rPr>
              <a:t> </a:t>
            </a:r>
            <a:r>
              <a:rPr sz="1150" b="0" dirty="0" err="1">
                <a:solidFill>
                  <a:srgbClr val="F5F8FC"/>
                </a:solidFill>
                <a:latin typeface="Montserrat"/>
              </a:rPr>
              <a:t>frío</a:t>
            </a:r>
            <a:r>
              <a:rPr sz="1150" b="0" dirty="0">
                <a:solidFill>
                  <a:srgbClr val="F5F8FC"/>
                </a:solidFill>
                <a:latin typeface="Montserrat"/>
              </a:rPr>
              <a:t> o </a:t>
            </a:r>
            <a:r>
              <a:rPr sz="1150" b="0" dirty="0" err="1">
                <a:solidFill>
                  <a:srgbClr val="F5F8FC"/>
                </a:solidFill>
                <a:latin typeface="Montserrat"/>
              </a:rPr>
              <a:t>calor</a:t>
            </a:r>
            <a:r>
              <a:rPr sz="1150" b="0" dirty="0">
                <a:solidFill>
                  <a:srgbClr val="F5F8FC"/>
                </a:solidFill>
                <a:latin typeface="Montserrat"/>
              </a:rPr>
              <a:t> </a:t>
            </a:r>
            <a:r>
              <a:rPr sz="1150" b="0" dirty="0" err="1">
                <a:solidFill>
                  <a:srgbClr val="F5F8FC"/>
                </a:solidFill>
                <a:latin typeface="Montserrat"/>
              </a:rPr>
              <a:t>intenso</a:t>
            </a:r>
            <a:r>
              <a:rPr sz="1150" b="0" dirty="0">
                <a:solidFill>
                  <a:srgbClr val="F5F8FC"/>
                </a:solidFill>
                <a:latin typeface="Montserrat"/>
              </a:rPr>
              <a:t>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0" y="3054096"/>
            <a:ext cx="4983480" cy="658368"/>
          </a:xfrm>
          <a:prstGeom prst="roundRect">
            <a:avLst/>
          </a:prstGeom>
          <a:solidFill>
            <a:srgbClr val="1A3A5A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50992" y="3218688"/>
            <a:ext cx="566928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700" b="1">
                <a:solidFill>
                  <a:srgbClr val="D4AF37"/>
                </a:solidFill>
                <a:latin typeface="Montserrat"/>
              </a:rPr>
              <a:t>H2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3163824"/>
            <a:ext cx="3886200" cy="43891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50" b="0">
                <a:solidFill>
                  <a:srgbClr val="F5F8FC"/>
                </a:solidFill>
                <a:latin typeface="Montserrat"/>
              </a:rPr>
              <a:t>Una parte relevante del consumo puede concentrarse en periodos caros, especialmente P1 y P2.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0" y="3840480"/>
            <a:ext cx="4983480" cy="658368"/>
          </a:xfrm>
          <a:prstGeom prst="roundRect">
            <a:avLst/>
          </a:prstGeom>
          <a:solidFill>
            <a:srgbClr val="1A3A5A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50992" y="4005072"/>
            <a:ext cx="566928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700" b="1">
                <a:solidFill>
                  <a:srgbClr val="D4AF37"/>
                </a:solidFill>
                <a:latin typeface="Montserrat"/>
              </a:rPr>
              <a:t>H3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3950208"/>
            <a:ext cx="3886200" cy="39087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50" b="0" dirty="0">
                <a:solidFill>
                  <a:srgbClr val="F5F8FC"/>
                </a:solidFill>
                <a:latin typeface="Montserrat"/>
              </a:rPr>
              <a:t>El </a:t>
            </a:r>
            <a:r>
              <a:rPr sz="1150" b="0" dirty="0" err="1">
                <a:solidFill>
                  <a:srgbClr val="F5F8FC"/>
                </a:solidFill>
                <a:latin typeface="Montserrat"/>
              </a:rPr>
              <a:t>impacto</a:t>
            </a:r>
            <a:r>
              <a:rPr sz="1150" b="0" dirty="0">
                <a:solidFill>
                  <a:srgbClr val="F5F8FC"/>
                </a:solidFill>
                <a:latin typeface="Montserrat"/>
              </a:rPr>
              <a:t> </a:t>
            </a:r>
            <a:r>
              <a:rPr sz="1150" b="0" dirty="0" err="1">
                <a:solidFill>
                  <a:srgbClr val="F5F8FC"/>
                </a:solidFill>
                <a:latin typeface="Montserrat"/>
              </a:rPr>
              <a:t>económico</a:t>
            </a:r>
            <a:r>
              <a:rPr sz="1150" b="0" dirty="0">
                <a:solidFill>
                  <a:srgbClr val="F5F8FC"/>
                </a:solidFill>
                <a:latin typeface="Montserrat"/>
              </a:rPr>
              <a:t> </a:t>
            </a:r>
            <a:r>
              <a:rPr lang="es-ES" sz="1150" b="0" dirty="0">
                <a:solidFill>
                  <a:srgbClr val="F5F8FC"/>
                </a:solidFill>
                <a:latin typeface="Montserrat"/>
              </a:rPr>
              <a:t>de los periodos P1 y P2 es mayor del 30%</a:t>
            </a:r>
            <a:r>
              <a:rPr sz="1150" b="0" dirty="0">
                <a:solidFill>
                  <a:srgbClr val="F5F8FC"/>
                </a:solidFill>
                <a:latin typeface="Montserrat"/>
              </a:rPr>
              <a:t>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0" y="4626864"/>
            <a:ext cx="4983480" cy="658368"/>
          </a:xfrm>
          <a:prstGeom prst="roundRect">
            <a:avLst/>
          </a:prstGeom>
          <a:solidFill>
            <a:srgbClr val="1A3A5A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50992" y="4791456"/>
            <a:ext cx="566928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700" b="1">
                <a:solidFill>
                  <a:srgbClr val="D4AF37"/>
                </a:solidFill>
                <a:latin typeface="Montserrat"/>
              </a:rPr>
              <a:t>H4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736592"/>
            <a:ext cx="3886200" cy="39087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50" b="0" dirty="0">
                <a:solidFill>
                  <a:srgbClr val="F5F8FC"/>
                </a:solidFill>
                <a:latin typeface="Montserrat"/>
              </a:rPr>
              <a:t>El </a:t>
            </a:r>
            <a:r>
              <a:rPr sz="1150" b="0" dirty="0" err="1">
                <a:solidFill>
                  <a:srgbClr val="F5F8FC"/>
                </a:solidFill>
                <a:latin typeface="Montserrat"/>
              </a:rPr>
              <a:t>cambio</a:t>
            </a:r>
            <a:r>
              <a:rPr sz="1150" b="0" dirty="0">
                <a:solidFill>
                  <a:srgbClr val="F5F8FC"/>
                </a:solidFill>
                <a:latin typeface="Montserrat"/>
              </a:rPr>
              <a:t> de </a:t>
            </a:r>
            <a:r>
              <a:rPr sz="1150" b="0" dirty="0" err="1">
                <a:solidFill>
                  <a:srgbClr val="F5F8FC"/>
                </a:solidFill>
                <a:latin typeface="Montserrat"/>
              </a:rPr>
              <a:t>turnos</a:t>
            </a:r>
            <a:r>
              <a:rPr sz="1150" b="0" dirty="0">
                <a:solidFill>
                  <a:srgbClr val="F5F8FC"/>
                </a:solidFill>
                <a:latin typeface="Montserrat"/>
              </a:rPr>
              <a:t> u </a:t>
            </a:r>
            <a:r>
              <a:rPr sz="1150" b="0" dirty="0" err="1">
                <a:solidFill>
                  <a:srgbClr val="F5F8FC"/>
                </a:solidFill>
                <a:latin typeface="Montserrat"/>
              </a:rPr>
              <a:t>horarios</a:t>
            </a:r>
            <a:r>
              <a:rPr sz="1150" b="0" dirty="0">
                <a:solidFill>
                  <a:srgbClr val="F5F8FC"/>
                </a:solidFill>
                <a:latin typeface="Montserrat"/>
              </a:rPr>
              <a:t> </a:t>
            </a:r>
            <a:r>
              <a:rPr sz="1150" b="0" dirty="0" err="1">
                <a:solidFill>
                  <a:srgbClr val="F5F8FC"/>
                </a:solidFill>
                <a:latin typeface="Montserrat"/>
              </a:rPr>
              <a:t>puede</a:t>
            </a:r>
            <a:r>
              <a:rPr sz="1150" b="0" dirty="0">
                <a:solidFill>
                  <a:srgbClr val="F5F8FC"/>
                </a:solidFill>
                <a:latin typeface="Montserrat"/>
              </a:rPr>
              <a:t> </a:t>
            </a:r>
            <a:r>
              <a:rPr lang="es-ES" sz="1150" b="0" dirty="0">
                <a:solidFill>
                  <a:srgbClr val="F5F8FC"/>
                </a:solidFill>
                <a:latin typeface="Montserrat"/>
              </a:rPr>
              <a:t>mejora</a:t>
            </a:r>
            <a:r>
              <a:rPr sz="1150" b="0" dirty="0">
                <a:solidFill>
                  <a:srgbClr val="F5F8FC"/>
                </a:solidFill>
                <a:latin typeface="Montserrat"/>
              </a:rPr>
              <a:t>r </a:t>
            </a:r>
            <a:r>
              <a:rPr lang="es-ES" sz="1150" dirty="0">
                <a:solidFill>
                  <a:srgbClr val="F5F8FC"/>
                </a:solidFill>
                <a:latin typeface="Montserrat"/>
              </a:rPr>
              <a:t>e</a:t>
            </a:r>
            <a:r>
              <a:rPr sz="1150" b="0" dirty="0">
                <a:solidFill>
                  <a:srgbClr val="F5F8FC"/>
                </a:solidFill>
                <a:latin typeface="Montserrat"/>
              </a:rPr>
              <a:t>l </a:t>
            </a:r>
            <a:r>
              <a:rPr sz="1150" b="0" dirty="0" err="1">
                <a:solidFill>
                  <a:srgbClr val="F5F8FC"/>
                </a:solidFill>
                <a:latin typeface="Montserrat"/>
              </a:rPr>
              <a:t>coste</a:t>
            </a:r>
            <a:r>
              <a:rPr sz="1150" b="0" dirty="0">
                <a:solidFill>
                  <a:srgbClr val="F5F8FC"/>
                </a:solidFill>
                <a:latin typeface="Montserrat"/>
              </a:rPr>
              <a:t> </a:t>
            </a:r>
            <a:r>
              <a:rPr sz="1150" b="0" dirty="0" err="1">
                <a:solidFill>
                  <a:srgbClr val="F5F8FC"/>
                </a:solidFill>
                <a:latin typeface="Montserrat"/>
              </a:rPr>
              <a:t>energético</a:t>
            </a:r>
            <a:r>
              <a:rPr sz="1150" b="0" dirty="0">
                <a:solidFill>
                  <a:srgbClr val="F5F8FC"/>
                </a:solidFill>
                <a:latin typeface="Montserrat"/>
              </a:rPr>
              <a:t> </a:t>
            </a:r>
            <a:r>
              <a:rPr sz="1150" b="0" dirty="0" err="1">
                <a:solidFill>
                  <a:srgbClr val="F5F8FC"/>
                </a:solidFill>
                <a:latin typeface="Montserrat"/>
              </a:rPr>
              <a:t>estimado</a:t>
            </a:r>
            <a:r>
              <a:rPr sz="1150" b="0" dirty="0">
                <a:solidFill>
                  <a:srgbClr val="F5F8FC"/>
                </a:solidFill>
                <a:latin typeface="Montserrat"/>
              </a:rPr>
              <a:t> de la planta.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321808"/>
            <a:ext cx="9966960" cy="384048"/>
          </a:xfrm>
          <a:prstGeom prst="roundRect">
            <a:avLst/>
          </a:prstGeom>
          <a:solidFill>
            <a:srgbClr val="0F2A41"/>
          </a:solidFill>
          <a:ln w="1016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404104"/>
            <a:ext cx="9326880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50" b="1">
                <a:solidFill>
                  <a:srgbClr val="D4AF37"/>
                </a:solidFill>
                <a:latin typeface="Montserrat"/>
              </a:rPr>
              <a:t>Hilo de lectura: factura → datos desordenados → contexto operativo → hipótesis → simulación → decisión.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Oval 1"/>
          <p:cNvSpPr/>
          <p:nvPr/>
        </p:nvSpPr>
        <p:spPr>
          <a:xfrm>
            <a:off x="9509760" y="-2057400"/>
            <a:ext cx="6583680" cy="6309360"/>
          </a:xfrm>
          <a:prstGeom prst="ellipse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50880" y="-960120"/>
            <a:ext cx="3169920" cy="3017520"/>
          </a:xfrm>
          <a:prstGeom prst="ellipse">
            <a:avLst/>
          </a:prstGeom>
          <a:solidFill>
            <a:srgbClr val="2B5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70560" y="6343650"/>
            <a:ext cx="10850880" cy="17145"/>
          </a:xfrm>
          <a:prstGeom prst="rect">
            <a:avLst/>
          </a:prstGeom>
          <a:solidFill>
            <a:srgbClr val="29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0560" y="397764"/>
            <a:ext cx="10241280" cy="480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1">
                <a:solidFill>
                  <a:srgbClr val="39C5F6"/>
                </a:solidFill>
                <a:latin typeface="Roboto Condensed"/>
              </a:rPr>
              <a:t>03. VISUALIZACIÓN INICIAL: SIN EDA, EL CONSUMO PARECE RUIDO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70560" y="946404"/>
            <a:ext cx="1085088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0560" y="6480810"/>
            <a:ext cx="5120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7B2C0"/>
                </a:solidFill>
                <a:latin typeface="Montserrat"/>
              </a:rPr>
              <a:t>EDA · Optimización Energética Industrial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0508"/>
            <a:ext cx="609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F4F7FA"/>
                </a:solidFill>
                <a:latin typeface="Roboto Condensed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1280160"/>
            <a:ext cx="969264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700" b="1">
                <a:solidFill>
                  <a:srgbClr val="F4F8FF"/>
                </a:solidFill>
              </a:defRPr>
            </a:pPr>
            <a:r>
              <a:t>Vista inicial: un año de consumo horario cruzado con periodos P1-P6.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1664208"/>
            <a:ext cx="996696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320" b="0">
                <a:solidFill>
                  <a:srgbClr val="D9E1EB"/>
                </a:solidFill>
              </a:defRPr>
            </a:pPr>
            <a:r>
              <a:t>A simple vista aparecen picos, valles, cambios de carga y señales superpuestas. El EDA convierte esa nube en contexto operativo.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148840"/>
            <a:ext cx="6812280" cy="3246120"/>
          </a:xfrm>
          <a:prstGeom prst="roundRect">
            <a:avLst/>
          </a:prstGeom>
          <a:solidFill>
            <a:srgbClr val="15304C"/>
          </a:solidFill>
          <a:ln>
            <a:solidFill>
              <a:srgbClr val="407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331720"/>
            <a:ext cx="6519672" cy="270662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22960" y="5084064"/>
            <a:ext cx="63550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30" b="0">
                <a:solidFill>
                  <a:srgbClr val="D9E1EB"/>
                </a:solidFill>
              </a:defRPr>
            </a:pPr>
            <a:r>
              <a:t>Vista bruta: muchas horas, muchos colores y poca decisión directa.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26679" y="2148840"/>
            <a:ext cx="3337560" cy="3246120"/>
          </a:xfrm>
          <a:prstGeom prst="roundRect">
            <a:avLst/>
          </a:prstGeom>
          <a:solidFill>
            <a:srgbClr val="15304C"/>
          </a:solidFill>
          <a:ln>
            <a:solidFill>
              <a:srgbClr val="407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73569" y="2395728"/>
            <a:ext cx="2763258" cy="247965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800" b="1">
                <a:solidFill>
                  <a:srgbClr val="F4F8FF"/>
                </a:solidFill>
              </a:defRPr>
            </a:pP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revela</a:t>
            </a:r>
            <a:r>
              <a:rPr dirty="0"/>
              <a:t> </a:t>
            </a:r>
            <a:r>
              <a:rPr dirty="0" err="1"/>
              <a:t>esta</a:t>
            </a:r>
            <a:r>
              <a:rPr dirty="0"/>
              <a:t> vista</a:t>
            </a:r>
            <a:endParaRPr lang="es-ES" dirty="0"/>
          </a:p>
          <a:p>
            <a:pPr>
              <a:defRPr sz="1800" b="1">
                <a:solidFill>
                  <a:srgbClr val="F4F8FF"/>
                </a:solidFill>
              </a:defRPr>
            </a:pPr>
            <a:endParaRPr dirty="0"/>
          </a:p>
          <a:p>
            <a:pPr algn="just">
              <a:spcAft>
                <a:spcPts val="400"/>
              </a:spcAft>
              <a:defRPr sz="1360">
                <a:solidFill>
                  <a:srgbClr val="D9E1EB"/>
                </a:solidFill>
              </a:defRPr>
            </a:pPr>
            <a:r>
              <a:rPr dirty="0"/>
              <a:t>• El </a:t>
            </a:r>
            <a:r>
              <a:rPr dirty="0" err="1"/>
              <a:t>consumo</a:t>
            </a:r>
            <a:r>
              <a:rPr dirty="0"/>
              <a:t> </a:t>
            </a:r>
            <a:r>
              <a:rPr dirty="0" err="1"/>
              <a:t>horario</a:t>
            </a:r>
            <a:r>
              <a:rPr dirty="0"/>
              <a:t> no se </a:t>
            </a:r>
            <a:r>
              <a:rPr dirty="0" err="1"/>
              <a:t>interpreta</a:t>
            </a:r>
            <a:r>
              <a:rPr dirty="0"/>
              <a:t> bien sin </a:t>
            </a:r>
            <a:r>
              <a:rPr dirty="0" err="1"/>
              <a:t>estructura</a:t>
            </a:r>
            <a:r>
              <a:rPr dirty="0"/>
              <a:t>.</a:t>
            </a:r>
          </a:p>
          <a:p>
            <a:pPr algn="just">
              <a:spcAft>
                <a:spcPts val="400"/>
              </a:spcAft>
              <a:defRPr sz="1360">
                <a:solidFill>
                  <a:srgbClr val="D9E1EB"/>
                </a:solidFill>
              </a:defRPr>
            </a:pPr>
            <a:r>
              <a:rPr dirty="0"/>
              <a:t>• Cada color </a:t>
            </a:r>
            <a:r>
              <a:rPr dirty="0" err="1"/>
              <a:t>cae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un </a:t>
            </a:r>
            <a:r>
              <a:rPr dirty="0" err="1"/>
              <a:t>periodo</a:t>
            </a:r>
            <a:r>
              <a:rPr dirty="0"/>
              <a:t> P1-P6 con </a:t>
            </a:r>
            <a:r>
              <a:rPr dirty="0" err="1"/>
              <a:t>impacto</a:t>
            </a:r>
            <a:r>
              <a:rPr dirty="0"/>
              <a:t> </a:t>
            </a:r>
            <a:r>
              <a:rPr dirty="0" err="1"/>
              <a:t>tarifario</a:t>
            </a:r>
            <a:r>
              <a:rPr dirty="0"/>
              <a:t> </a:t>
            </a:r>
            <a:r>
              <a:rPr dirty="0" err="1"/>
              <a:t>distinto</a:t>
            </a:r>
            <a:r>
              <a:rPr dirty="0"/>
              <a:t>.</a:t>
            </a:r>
          </a:p>
          <a:p>
            <a:pPr algn="just">
              <a:spcAft>
                <a:spcPts val="400"/>
              </a:spcAft>
              <a:defRPr sz="1360">
                <a:solidFill>
                  <a:srgbClr val="D9E1EB"/>
                </a:solidFill>
              </a:defRPr>
            </a:pPr>
            <a:r>
              <a:rPr dirty="0"/>
              <a:t>• </a:t>
            </a:r>
            <a:r>
              <a:rPr dirty="0" err="1"/>
              <a:t>Hace</a:t>
            </a:r>
            <a:r>
              <a:rPr dirty="0"/>
              <a:t> </a:t>
            </a:r>
            <a:r>
              <a:rPr dirty="0" err="1"/>
              <a:t>falta</a:t>
            </a:r>
            <a:r>
              <a:rPr dirty="0"/>
              <a:t> </a:t>
            </a:r>
            <a:r>
              <a:rPr dirty="0" err="1"/>
              <a:t>ordenar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calendario</a:t>
            </a:r>
            <a:r>
              <a:rPr dirty="0"/>
              <a:t>, </a:t>
            </a:r>
            <a:r>
              <a:rPr dirty="0" err="1"/>
              <a:t>turno</a:t>
            </a:r>
            <a:r>
              <a:rPr dirty="0"/>
              <a:t> y </a:t>
            </a:r>
            <a:r>
              <a:rPr dirty="0" err="1"/>
              <a:t>coste</a:t>
            </a:r>
            <a:r>
              <a:rPr dirty="0"/>
              <a:t>.</a:t>
            </a:r>
            <a:endParaRPr lang="es-ES" dirty="0"/>
          </a:p>
          <a:p>
            <a:pPr algn="just">
              <a:spcAft>
                <a:spcPts val="400"/>
              </a:spcAft>
              <a:defRPr sz="1360">
                <a:solidFill>
                  <a:srgbClr val="D9E1EB"/>
                </a:solidFill>
              </a:defRPr>
            </a:pPr>
            <a:endParaRPr dirty="0"/>
          </a:p>
          <a:p>
            <a:pPr>
              <a:defRPr sz="1420" b="1">
                <a:solidFill>
                  <a:srgbClr val="D4AF37"/>
                </a:solidFill>
              </a:defRPr>
            </a:pPr>
            <a:r>
              <a:rPr dirty="0" err="1"/>
              <a:t>Siguiente</a:t>
            </a:r>
            <a:r>
              <a:rPr dirty="0"/>
              <a:t> paso: </a:t>
            </a:r>
            <a:r>
              <a:rPr dirty="0" err="1"/>
              <a:t>contexto</a:t>
            </a:r>
            <a:r>
              <a:rPr dirty="0"/>
              <a:t> </a:t>
            </a:r>
            <a:r>
              <a:rPr dirty="0" err="1"/>
              <a:t>operativo</a:t>
            </a:r>
            <a:r>
              <a:rPr dirty="0"/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568696"/>
            <a:ext cx="950976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50" b="1">
                <a:solidFill>
                  <a:srgbClr val="D4AF37"/>
                </a:solidFill>
              </a:defRPr>
            </a:pPr>
            <a:r>
              <a:t>Transición: del ruido visual al análisis de cuándo trabaja realmente la planta.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2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509760" y="-2057400"/>
            <a:ext cx="6583680" cy="6309360"/>
          </a:xfrm>
          <a:prstGeom prst="ellipse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50880" y="-960120"/>
            <a:ext cx="3169920" cy="3017520"/>
          </a:xfrm>
          <a:prstGeom prst="ellipse">
            <a:avLst/>
          </a:prstGeom>
          <a:solidFill>
            <a:srgbClr val="2B5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70560" y="6343650"/>
            <a:ext cx="10850880" cy="17145"/>
          </a:xfrm>
          <a:prstGeom prst="rect">
            <a:avLst/>
          </a:prstGeom>
          <a:solidFill>
            <a:srgbClr val="29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0560" y="397764"/>
            <a:ext cx="10241280" cy="480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1">
                <a:solidFill>
                  <a:srgbClr val="39C5F6"/>
                </a:solidFill>
                <a:latin typeface="Roboto Condensed"/>
              </a:rPr>
              <a:t>04. CONTEXTO OPERATIVO: DÓNDE ESTÁ LA CARGA REAL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70560" y="946404"/>
            <a:ext cx="1085088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0560" y="6480810"/>
            <a:ext cx="5120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7B2C0"/>
                </a:solidFill>
                <a:latin typeface="Montserrat"/>
              </a:rPr>
              <a:t>EDA · Optimización Energética Industrial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0508"/>
            <a:ext cx="609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F4F7FA"/>
                </a:solidFill>
                <a:latin typeface="Roboto Condensed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60" y="1234440"/>
            <a:ext cx="85344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F4F7FA"/>
                </a:solidFill>
                <a:latin typeface="Roboto Condensed"/>
              </a:rPr>
              <a:t>Después de ver el ruido inicial, el primer paso es entender cuándo trabaja realmente la planta.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60" y="1783080"/>
            <a:ext cx="9753600" cy="377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>
                <a:solidFill>
                  <a:srgbClr val="F4F7FA"/>
                </a:solidFill>
                <a:latin typeface="Roboto Condensed"/>
              </a:rPr>
              <a:t>La segmentación por tipo de día y turno permite separar carga productiva, consumo residual y posibles ventanas de actuación.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0560" y="2468880"/>
            <a:ext cx="5242560" cy="2880360"/>
          </a:xfrm>
          <a:prstGeom prst="roundRect">
            <a:avLst/>
          </a:prstGeom>
          <a:solidFill>
            <a:srgbClr val="16304B"/>
          </a:solidFill>
          <a:ln>
            <a:solidFill>
              <a:srgbClr val="486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939" y="2549530"/>
            <a:ext cx="3919800" cy="2719059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461760" y="2468880"/>
            <a:ext cx="4876800" cy="2880360"/>
          </a:xfrm>
          <a:prstGeom prst="roundRect">
            <a:avLst/>
          </a:prstGeom>
          <a:solidFill>
            <a:srgbClr val="16304B"/>
          </a:solidFill>
          <a:ln>
            <a:solidFill>
              <a:srgbClr val="486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5889" y="2549530"/>
            <a:ext cx="3928540" cy="271905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19200" y="5932170"/>
            <a:ext cx="975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>
                <a:solidFill>
                  <a:srgbClr val="D4AF37"/>
                </a:solidFill>
                <a:latin typeface="Roboto Condensed"/>
              </a:rPr>
              <a:t>Objetivo cubierto: análisis operativo por día, semana y turno de trabajo.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2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509760" y="-2057400"/>
            <a:ext cx="6583680" cy="6309360"/>
          </a:xfrm>
          <a:prstGeom prst="ellipse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50880" y="-960120"/>
            <a:ext cx="3169920" cy="3017520"/>
          </a:xfrm>
          <a:prstGeom prst="ellipse">
            <a:avLst/>
          </a:prstGeom>
          <a:solidFill>
            <a:srgbClr val="2B5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70560" y="6343650"/>
            <a:ext cx="10850880" cy="17145"/>
          </a:xfrm>
          <a:prstGeom prst="rect">
            <a:avLst/>
          </a:prstGeom>
          <a:solidFill>
            <a:srgbClr val="29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0560" y="397764"/>
            <a:ext cx="10241280" cy="480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1">
                <a:solidFill>
                  <a:srgbClr val="39C5F6"/>
                </a:solidFill>
                <a:latin typeface="Roboto Condensed"/>
              </a:rPr>
              <a:t>05. PERFIL HORARIO: IDENTIFICAR PICOS Y VALLES DE COSTE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70560" y="946404"/>
            <a:ext cx="1085088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0560" y="6480810"/>
            <a:ext cx="5120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7B2C0"/>
                </a:solidFill>
                <a:latin typeface="Montserrat"/>
              </a:rPr>
              <a:t>EDA · Optimización Energética Industrial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0508"/>
            <a:ext cx="609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F4F7FA"/>
                </a:solidFill>
                <a:latin typeface="Roboto Condensed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0560" y="1371600"/>
            <a:ext cx="7315200" cy="3977639"/>
          </a:xfrm>
          <a:prstGeom prst="roundRect">
            <a:avLst/>
          </a:prstGeom>
          <a:solidFill>
            <a:srgbClr val="16304B"/>
          </a:solidFill>
          <a:ln>
            <a:solidFill>
              <a:srgbClr val="486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233" y="2035501"/>
            <a:ext cx="7051852" cy="264983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12480" y="1577340"/>
            <a:ext cx="3048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F4F7FA"/>
                </a:solidFill>
                <a:latin typeface="Roboto Condensed"/>
              </a:rPr>
              <a:t>Después de ubicar la carga principal, bajamos al detalle horario.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331720"/>
            <a:ext cx="29260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>
                <a:solidFill>
                  <a:srgbClr val="F4F7FA"/>
                </a:solidFill>
                <a:latin typeface="Roboto Condensed"/>
              </a:rPr>
              <a:t>El perfil medio por hora ayuda a detectar arranques, mesetas, valles y posibles horarios desplazables.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0" y="3479800"/>
            <a:ext cx="76200" cy="762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0280" y="3429000"/>
            <a:ext cx="262636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>
                <a:solidFill>
                  <a:srgbClr val="F4F7FA"/>
                </a:solidFill>
                <a:latin typeface="Roboto Condensed"/>
              </a:rPr>
              <a:t>Picos: revisar si coinciden con P1-P2.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0" y="4028439"/>
            <a:ext cx="76200" cy="762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0280" y="3977639"/>
            <a:ext cx="262636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>
                <a:solidFill>
                  <a:srgbClr val="F4F7FA"/>
                </a:solidFill>
                <a:latin typeface="Roboto Condensed"/>
              </a:rPr>
              <a:t>Valles: identificar cargas residuales.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0" y="4577080"/>
            <a:ext cx="76200" cy="762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90280" y="4526280"/>
            <a:ext cx="262636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>
                <a:solidFill>
                  <a:srgbClr val="F4F7FA"/>
                </a:solidFill>
                <a:latin typeface="Roboto Condensed"/>
              </a:rPr>
              <a:t>Cambios de turno: base para simular.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200" y="5932170"/>
            <a:ext cx="975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>
                <a:solidFill>
                  <a:srgbClr val="D4AF37"/>
                </a:solidFill>
                <a:latin typeface="Roboto Condensed"/>
              </a:rPr>
              <a:t>Objetivo cubierto: análisis horario como entrada a la simulación.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2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509760" y="-2057400"/>
            <a:ext cx="6583680" cy="6309360"/>
          </a:xfrm>
          <a:prstGeom prst="ellipse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50880" y="-960120"/>
            <a:ext cx="3169920" cy="3017520"/>
          </a:xfrm>
          <a:prstGeom prst="ellipse">
            <a:avLst/>
          </a:prstGeom>
          <a:solidFill>
            <a:srgbClr val="2B5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70560" y="6343650"/>
            <a:ext cx="10850880" cy="17145"/>
          </a:xfrm>
          <a:prstGeom prst="rect">
            <a:avLst/>
          </a:prstGeom>
          <a:solidFill>
            <a:srgbClr val="29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0560" y="397764"/>
            <a:ext cx="10241280" cy="480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1">
                <a:solidFill>
                  <a:srgbClr val="39C5F6"/>
                </a:solidFill>
                <a:latin typeface="Roboto Condensed"/>
              </a:rPr>
              <a:t>06. H1 · SENSIBILIDAD CLIMÁTICA: PRIMERA SEÑAL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70560" y="946404"/>
            <a:ext cx="1085088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0560" y="6480810"/>
            <a:ext cx="5120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7B2C0"/>
                </a:solidFill>
                <a:latin typeface="Montserrat"/>
              </a:rPr>
              <a:t>EDA · Optimización Energética Industrial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0508"/>
            <a:ext cx="609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F4F7FA"/>
                </a:solidFill>
                <a:latin typeface="Roboto Condensed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0560" y="1165860"/>
            <a:ext cx="5486400" cy="562356"/>
          </a:xfrm>
          <a:prstGeom prst="roundRect">
            <a:avLst/>
          </a:prstGeom>
          <a:solidFill>
            <a:srgbClr val="173D60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2584" y="1289303"/>
            <a:ext cx="5102352" cy="377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50" b="1">
                <a:solidFill>
                  <a:srgbClr val="F4F7FA"/>
                </a:solidFill>
                <a:latin typeface="Roboto Condensed"/>
              </a:rPr>
              <a:t>H1: el consumo eléctrico diario puede variar con la temperatura exterior, especialmente en días de frío o calor intenso.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0560" y="2057400"/>
            <a:ext cx="6827520" cy="3291840"/>
          </a:xfrm>
          <a:prstGeom prst="roundRect">
            <a:avLst/>
          </a:prstGeom>
          <a:solidFill>
            <a:srgbClr val="16304B"/>
          </a:solidFill>
          <a:ln>
            <a:solidFill>
              <a:srgbClr val="486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h1_scatter_temp_consumo_regre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344" y="2149571"/>
            <a:ext cx="5917951" cy="31074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46720" y="1714500"/>
            <a:ext cx="3413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D4AF37"/>
                </a:solidFill>
                <a:latin typeface="Roboto Condensed"/>
              </a:rPr>
              <a:t>Con el patrón operativo ordenado, abrimos la primera hipótesis: sensibilidad climática.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468880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30">
                <a:solidFill>
                  <a:srgbClr val="F4F7FA"/>
                </a:solidFill>
                <a:latin typeface="Roboto Condensed"/>
              </a:rPr>
              <a:t>El clima puede actuar como un factor indirecto sobre calefacción, refrigeración y demanda auxiliar. La señal existe, pero no basta por sí sola para explicar el consumo.</a:t>
            </a:r>
          </a:p>
        </p:txBody>
      </p:sp>
      <p:sp>
        <p:nvSpPr>
          <p:cNvPr id="15" name="Oval 14"/>
          <p:cNvSpPr/>
          <p:nvPr/>
        </p:nvSpPr>
        <p:spPr>
          <a:xfrm>
            <a:off x="8046720" y="4028439"/>
            <a:ext cx="76200" cy="762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4520" y="3977639"/>
            <a:ext cx="311404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>
                <a:solidFill>
                  <a:srgbClr val="F4F7FA"/>
                </a:solidFill>
                <a:latin typeface="Roboto Condensed"/>
              </a:rPr>
              <a:t>Lectura directa: temperatura frente a consumo.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0" y="4577080"/>
            <a:ext cx="76200" cy="762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4520" y="4526280"/>
            <a:ext cx="311404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dirty="0">
                <a:solidFill>
                  <a:srgbClr val="F4F7FA"/>
                </a:solidFill>
                <a:latin typeface="Roboto Condensed"/>
              </a:rPr>
              <a:t>La curva </a:t>
            </a:r>
            <a:r>
              <a:rPr sz="1200" dirty="0" err="1">
                <a:solidFill>
                  <a:srgbClr val="F4F7FA"/>
                </a:solidFill>
                <a:latin typeface="Roboto Condensed"/>
              </a:rPr>
              <a:t>sugiere</a:t>
            </a:r>
            <a:r>
              <a:rPr sz="1200" dirty="0">
                <a:solidFill>
                  <a:srgbClr val="F4F7FA"/>
                </a:solidFill>
                <a:latin typeface="Roboto Condensed"/>
              </a:rPr>
              <a:t> </a:t>
            </a:r>
            <a:r>
              <a:rPr sz="1200" dirty="0" err="1">
                <a:solidFill>
                  <a:srgbClr val="F4F7FA"/>
                </a:solidFill>
                <a:latin typeface="Roboto Condensed"/>
              </a:rPr>
              <a:t>patrón</a:t>
            </a:r>
            <a:r>
              <a:rPr sz="1200" dirty="0">
                <a:solidFill>
                  <a:srgbClr val="F4F7FA"/>
                </a:solidFill>
                <a:latin typeface="Roboto Condensed"/>
              </a:rPr>
              <a:t>, no </a:t>
            </a:r>
            <a:r>
              <a:rPr sz="1200" dirty="0" err="1">
                <a:solidFill>
                  <a:srgbClr val="F4F7FA"/>
                </a:solidFill>
                <a:latin typeface="Roboto Condensed"/>
              </a:rPr>
              <a:t>causalidad</a:t>
            </a:r>
            <a:r>
              <a:rPr sz="1200" dirty="0">
                <a:solidFill>
                  <a:srgbClr val="F4F7FA"/>
                </a:solidFill>
                <a:latin typeface="Roboto Condensed"/>
              </a:rPr>
              <a:t>.</a:t>
            </a:r>
          </a:p>
        </p:txBody>
      </p:sp>
      <p:sp>
        <p:nvSpPr>
          <p:cNvPr id="19" name="Oval 18"/>
          <p:cNvSpPr/>
          <p:nvPr/>
        </p:nvSpPr>
        <p:spPr>
          <a:xfrm>
            <a:off x="8046720" y="5125720"/>
            <a:ext cx="76200" cy="762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4520" y="5074920"/>
            <a:ext cx="311404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>
                <a:solidFill>
                  <a:srgbClr val="F4F7FA"/>
                </a:solidFill>
                <a:latin typeface="Roboto Condensed"/>
              </a:rPr>
              <a:t>Necesita contraste con calendario y operación.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2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509760" y="-2057400"/>
            <a:ext cx="6583680" cy="6309360"/>
          </a:xfrm>
          <a:prstGeom prst="ellipse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50880" y="-960120"/>
            <a:ext cx="3169920" cy="3017520"/>
          </a:xfrm>
          <a:prstGeom prst="ellipse">
            <a:avLst/>
          </a:prstGeom>
          <a:solidFill>
            <a:srgbClr val="2B5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70560" y="6343650"/>
            <a:ext cx="10850880" cy="17145"/>
          </a:xfrm>
          <a:prstGeom prst="rect">
            <a:avLst/>
          </a:prstGeom>
          <a:solidFill>
            <a:srgbClr val="29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0560" y="397764"/>
            <a:ext cx="10241280" cy="480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1">
                <a:solidFill>
                  <a:srgbClr val="39C5F6"/>
                </a:solidFill>
                <a:latin typeface="Roboto Condensed"/>
              </a:rPr>
              <a:t>07. H1 · CONTRASTE ESTADÍSTICO: POR QUÉ NO ES TAN SIMPLE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70560" y="946404"/>
            <a:ext cx="1085088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0560" y="6480810"/>
            <a:ext cx="5120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7B2C0"/>
                </a:solidFill>
                <a:latin typeface="Montserrat"/>
              </a:rPr>
              <a:t>EDA · Optimización Energética Industrial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0508"/>
            <a:ext cx="609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F4F7FA"/>
                </a:solidFill>
                <a:latin typeface="Roboto Condensed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0560" y="1234440"/>
            <a:ext cx="6705600" cy="4320540"/>
          </a:xfrm>
          <a:prstGeom prst="roundRect">
            <a:avLst/>
          </a:prstGeom>
          <a:solidFill>
            <a:srgbClr val="16304B"/>
          </a:solidFill>
          <a:ln>
            <a:solidFill>
              <a:srgbClr val="486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920" y="1355415"/>
            <a:ext cx="5678878" cy="407858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24800" y="150876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dirty="0">
                <a:solidFill>
                  <a:srgbClr val="F4F7FA"/>
                </a:solidFill>
                <a:latin typeface="Roboto Condensed"/>
              </a:rPr>
              <a:t>El primer paso para </a:t>
            </a:r>
            <a:r>
              <a:rPr sz="1600" b="1" dirty="0" err="1">
                <a:solidFill>
                  <a:srgbClr val="F4F7FA"/>
                </a:solidFill>
                <a:latin typeface="Roboto Condensed"/>
              </a:rPr>
              <a:t>contrastar</a:t>
            </a:r>
            <a:r>
              <a:rPr sz="1600" b="1" dirty="0">
                <a:solidFill>
                  <a:srgbClr val="F4F7FA"/>
                </a:solidFill>
                <a:latin typeface="Roboto Condensed"/>
              </a:rPr>
              <a:t> H1 </a:t>
            </a:r>
            <a:r>
              <a:rPr sz="1600" b="1" dirty="0" err="1">
                <a:solidFill>
                  <a:srgbClr val="F4F7FA"/>
                </a:solidFill>
                <a:latin typeface="Roboto Condensed"/>
              </a:rPr>
              <a:t>fue</a:t>
            </a:r>
            <a:r>
              <a:rPr sz="1600" b="1" dirty="0">
                <a:solidFill>
                  <a:srgbClr val="F4F7FA"/>
                </a:solidFill>
                <a:latin typeface="Roboto Condensed"/>
              </a:rPr>
              <a:t> </a:t>
            </a:r>
            <a:r>
              <a:rPr sz="1600" b="1" dirty="0" err="1">
                <a:solidFill>
                  <a:srgbClr val="F4F7FA"/>
                </a:solidFill>
                <a:latin typeface="Roboto Condensed"/>
              </a:rPr>
              <a:t>construir</a:t>
            </a:r>
            <a:r>
              <a:rPr sz="1600" b="1" dirty="0">
                <a:solidFill>
                  <a:srgbClr val="F4F7FA"/>
                </a:solidFill>
                <a:latin typeface="Roboto Condensed"/>
              </a:rPr>
              <a:t> </a:t>
            </a:r>
            <a:r>
              <a:rPr sz="1600" b="1" dirty="0" err="1">
                <a:solidFill>
                  <a:srgbClr val="F4F7FA"/>
                </a:solidFill>
                <a:latin typeface="Roboto Condensed"/>
              </a:rPr>
              <a:t>una</a:t>
            </a:r>
            <a:r>
              <a:rPr sz="1600" b="1" dirty="0">
                <a:solidFill>
                  <a:srgbClr val="F4F7FA"/>
                </a:solidFill>
                <a:latin typeface="Roboto Condensed"/>
              </a:rPr>
              <a:t> </a:t>
            </a:r>
            <a:r>
              <a:rPr sz="1600" b="1" dirty="0" err="1">
                <a:solidFill>
                  <a:srgbClr val="F4F7FA"/>
                </a:solidFill>
                <a:latin typeface="Roboto Condensed"/>
              </a:rPr>
              <a:t>matriz</a:t>
            </a:r>
            <a:r>
              <a:rPr sz="1600" b="1" dirty="0">
                <a:solidFill>
                  <a:srgbClr val="F4F7FA"/>
                </a:solidFill>
                <a:latin typeface="Roboto Condensed"/>
              </a:rPr>
              <a:t> de </a:t>
            </a:r>
            <a:r>
              <a:rPr sz="1600" b="1" dirty="0" err="1">
                <a:solidFill>
                  <a:srgbClr val="F4F7FA"/>
                </a:solidFill>
                <a:latin typeface="Roboto Condensed"/>
              </a:rPr>
              <a:t>correlación</a:t>
            </a:r>
            <a:r>
              <a:rPr sz="1600" b="1" dirty="0">
                <a:solidFill>
                  <a:srgbClr val="F4F7FA"/>
                </a:solidFill>
                <a:latin typeface="Roboto Condensed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4800" y="2263140"/>
            <a:ext cx="34137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20">
                <a:solidFill>
                  <a:srgbClr val="F4F7FA"/>
                </a:solidFill>
                <a:latin typeface="Roboto Condensed"/>
              </a:rPr>
              <a:t>Aparentemente no aparece una correlación diaria fuerte entre temperatura y consumo. La razón es metodológica: Pearson busca relaciones lineales punto a punto.</a:t>
            </a:r>
          </a:p>
        </p:txBody>
      </p:sp>
      <p:sp>
        <p:nvSpPr>
          <p:cNvPr id="13" name="Oval 12"/>
          <p:cNvSpPr/>
          <p:nvPr/>
        </p:nvSpPr>
        <p:spPr>
          <a:xfrm>
            <a:off x="7924800" y="3754120"/>
            <a:ext cx="76200" cy="762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02600" y="3703320"/>
            <a:ext cx="323596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>
                <a:solidFill>
                  <a:srgbClr val="F4F7FA"/>
                </a:solidFill>
                <a:latin typeface="Roboto Condensed"/>
              </a:rPr>
              <a:t>La estacionalidad se diluye con el ruido operativo.</a:t>
            </a:r>
          </a:p>
        </p:txBody>
      </p:sp>
      <p:sp>
        <p:nvSpPr>
          <p:cNvPr id="15" name="Oval 14"/>
          <p:cNvSpPr/>
          <p:nvPr/>
        </p:nvSpPr>
        <p:spPr>
          <a:xfrm>
            <a:off x="7924800" y="4302760"/>
            <a:ext cx="76200" cy="762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02600" y="4251960"/>
            <a:ext cx="323596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>
                <a:solidFill>
                  <a:srgbClr val="F4F7FA"/>
                </a:solidFill>
                <a:latin typeface="Roboto Condensed"/>
              </a:rPr>
              <a:t>Turnos, calendario y carga pueden compensar la señal.</a:t>
            </a:r>
          </a:p>
        </p:txBody>
      </p:sp>
      <p:sp>
        <p:nvSpPr>
          <p:cNvPr id="17" name="Oval 16"/>
          <p:cNvSpPr/>
          <p:nvPr/>
        </p:nvSpPr>
        <p:spPr>
          <a:xfrm>
            <a:off x="7924800" y="4851400"/>
            <a:ext cx="76200" cy="762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02600" y="4800600"/>
            <a:ext cx="323596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>
                <a:solidFill>
                  <a:srgbClr val="F4F7FA"/>
                </a:solidFill>
                <a:latin typeface="Roboto Condensed"/>
              </a:rPr>
              <a:t>Débil correlación no significa ausencia de contexto climático.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200" y="5932170"/>
            <a:ext cx="975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>
                <a:solidFill>
                  <a:srgbClr val="D4AF37"/>
                </a:solidFill>
                <a:latin typeface="Roboto Condensed"/>
              </a:rPr>
              <a:t>Conclusión parcial: H1 requiere leer tendencia temporal, no solo correlación diaria lineal.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2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509760" y="-2057400"/>
            <a:ext cx="6583680" cy="6309360"/>
          </a:xfrm>
          <a:prstGeom prst="ellipse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50880" y="-960120"/>
            <a:ext cx="3169920" cy="3017520"/>
          </a:xfrm>
          <a:prstGeom prst="ellipse">
            <a:avLst/>
          </a:prstGeom>
          <a:solidFill>
            <a:srgbClr val="2B5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70560" y="6343650"/>
            <a:ext cx="10850880" cy="17145"/>
          </a:xfrm>
          <a:prstGeom prst="rect">
            <a:avLst/>
          </a:prstGeom>
          <a:solidFill>
            <a:srgbClr val="29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0560" y="397764"/>
            <a:ext cx="10241280" cy="480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1">
                <a:solidFill>
                  <a:srgbClr val="39C5F6"/>
                </a:solidFill>
                <a:latin typeface="Roboto Condensed"/>
              </a:rPr>
              <a:t>08. H1 · TENDENCIA TEMPORAL: CLIMA, VIENTO, CONSUMO Y COSTE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70560" y="946404"/>
            <a:ext cx="1085088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0560" y="6480810"/>
            <a:ext cx="5120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7B2C0"/>
                </a:solidFill>
                <a:latin typeface="Montserrat"/>
              </a:rPr>
              <a:t>EDA · Optimización Energética Industrial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0508"/>
            <a:ext cx="609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F4F7FA"/>
                </a:solidFill>
                <a:latin typeface="Roboto Condensed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0560" y="1371600"/>
            <a:ext cx="7559040" cy="4114800"/>
          </a:xfrm>
          <a:prstGeom prst="roundRect">
            <a:avLst/>
          </a:prstGeom>
          <a:solidFill>
            <a:srgbClr val="16304B"/>
          </a:solidFill>
          <a:ln>
            <a:solidFill>
              <a:srgbClr val="486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h1_08_tendencia_consumo_temperatura_viento_cos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622" y="2000305"/>
            <a:ext cx="7286914" cy="28573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56320" y="1508760"/>
            <a:ext cx="292608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D4AF37"/>
                </a:solidFill>
                <a:latin typeface="Roboto Condensed"/>
              </a:rPr>
              <a:t>Si la correlación lineal no explica bien la relación, la siguiente lectura es temporal.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6320" y="2194560"/>
            <a:ext cx="2682240" cy="891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20">
                <a:solidFill>
                  <a:srgbClr val="F4F7FA"/>
                </a:solidFill>
                <a:latin typeface="Roboto Condensed"/>
              </a:rPr>
              <a:t>Las curvas normalizadas comparan consumo, temperatura, viento y coste estimado en la misma escala temporal.</a:t>
            </a:r>
          </a:p>
        </p:txBody>
      </p:sp>
      <p:sp>
        <p:nvSpPr>
          <p:cNvPr id="13" name="Oval 12"/>
          <p:cNvSpPr/>
          <p:nvPr/>
        </p:nvSpPr>
        <p:spPr>
          <a:xfrm>
            <a:off x="8656320" y="3616960"/>
            <a:ext cx="76200" cy="762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34120" y="3566160"/>
            <a:ext cx="250444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dirty="0">
                <a:solidFill>
                  <a:srgbClr val="F4F7FA"/>
                </a:solidFill>
                <a:latin typeface="Roboto Condensed"/>
              </a:rPr>
              <a:t>En </a:t>
            </a:r>
            <a:r>
              <a:rPr sz="1200" dirty="0" err="1">
                <a:solidFill>
                  <a:srgbClr val="F4F7FA"/>
                </a:solidFill>
                <a:latin typeface="Roboto Condensed"/>
              </a:rPr>
              <a:t>frío</a:t>
            </a:r>
            <a:r>
              <a:rPr sz="1200" dirty="0">
                <a:solidFill>
                  <a:srgbClr val="F4F7FA"/>
                </a:solidFill>
                <a:latin typeface="Roboto Condensed"/>
              </a:rPr>
              <a:t>, </a:t>
            </a:r>
            <a:r>
              <a:rPr sz="1200" dirty="0" err="1">
                <a:solidFill>
                  <a:srgbClr val="F4F7FA"/>
                </a:solidFill>
                <a:latin typeface="Roboto Condensed"/>
              </a:rPr>
              <a:t>el</a:t>
            </a:r>
            <a:r>
              <a:rPr sz="1200" dirty="0">
                <a:solidFill>
                  <a:srgbClr val="F4F7FA"/>
                </a:solidFill>
                <a:latin typeface="Roboto Condensed"/>
              </a:rPr>
              <a:t> </a:t>
            </a:r>
            <a:r>
              <a:rPr sz="1200" dirty="0" err="1">
                <a:solidFill>
                  <a:srgbClr val="F4F7FA"/>
                </a:solidFill>
                <a:latin typeface="Roboto Condensed"/>
              </a:rPr>
              <a:t>consumo</a:t>
            </a:r>
            <a:r>
              <a:rPr sz="1200" dirty="0">
                <a:solidFill>
                  <a:srgbClr val="F4F7FA"/>
                </a:solidFill>
                <a:latin typeface="Roboto Condensed"/>
              </a:rPr>
              <a:t> </a:t>
            </a:r>
            <a:r>
              <a:rPr sz="1200" dirty="0" err="1">
                <a:solidFill>
                  <a:srgbClr val="F4F7FA"/>
                </a:solidFill>
                <a:latin typeface="Roboto Condensed"/>
              </a:rPr>
              <a:t>relativo</a:t>
            </a:r>
            <a:r>
              <a:rPr sz="1200" dirty="0">
                <a:solidFill>
                  <a:srgbClr val="F4F7FA"/>
                </a:solidFill>
                <a:latin typeface="Roboto Condensed"/>
              </a:rPr>
              <a:t> </a:t>
            </a:r>
            <a:r>
              <a:rPr sz="1200" dirty="0" err="1">
                <a:solidFill>
                  <a:srgbClr val="F4F7FA"/>
                </a:solidFill>
                <a:latin typeface="Roboto Condensed"/>
              </a:rPr>
              <a:t>tiende</a:t>
            </a:r>
            <a:r>
              <a:rPr sz="1200" dirty="0">
                <a:solidFill>
                  <a:srgbClr val="F4F7FA"/>
                </a:solidFill>
                <a:latin typeface="Roboto Condensed"/>
              </a:rPr>
              <a:t> a </a:t>
            </a:r>
            <a:r>
              <a:rPr sz="1200" dirty="0" err="1">
                <a:solidFill>
                  <a:srgbClr val="F4F7FA"/>
                </a:solidFill>
                <a:latin typeface="Roboto Condensed"/>
              </a:rPr>
              <a:t>subir</a:t>
            </a:r>
            <a:r>
              <a:rPr sz="1200" dirty="0">
                <a:solidFill>
                  <a:srgbClr val="F4F7FA"/>
                </a:solidFill>
                <a:latin typeface="Roboto Condensed"/>
              </a:rPr>
              <a:t>.</a:t>
            </a:r>
          </a:p>
        </p:txBody>
      </p:sp>
      <p:sp>
        <p:nvSpPr>
          <p:cNvPr id="15" name="Oval 14"/>
          <p:cNvSpPr/>
          <p:nvPr/>
        </p:nvSpPr>
        <p:spPr>
          <a:xfrm>
            <a:off x="8656320" y="4165600"/>
            <a:ext cx="76200" cy="762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34120" y="4114800"/>
            <a:ext cx="250444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dirty="0">
                <a:solidFill>
                  <a:srgbClr val="F4F7FA"/>
                </a:solidFill>
                <a:latin typeface="Roboto Condensed"/>
              </a:rPr>
              <a:t>El </a:t>
            </a:r>
            <a:r>
              <a:rPr sz="1200" dirty="0" err="1">
                <a:solidFill>
                  <a:srgbClr val="F4F7FA"/>
                </a:solidFill>
                <a:latin typeface="Roboto Condensed"/>
              </a:rPr>
              <a:t>coste</a:t>
            </a:r>
            <a:r>
              <a:rPr sz="1200" dirty="0">
                <a:solidFill>
                  <a:srgbClr val="F4F7FA"/>
                </a:solidFill>
                <a:latin typeface="Roboto Condensed"/>
              </a:rPr>
              <a:t> </a:t>
            </a:r>
            <a:r>
              <a:rPr sz="1200" dirty="0" err="1">
                <a:solidFill>
                  <a:srgbClr val="F4F7FA"/>
                </a:solidFill>
                <a:latin typeface="Roboto Condensed"/>
              </a:rPr>
              <a:t>sigue</a:t>
            </a:r>
            <a:r>
              <a:rPr sz="1200" dirty="0">
                <a:solidFill>
                  <a:srgbClr val="F4F7FA"/>
                </a:solidFill>
                <a:latin typeface="Roboto Condensed"/>
              </a:rPr>
              <a:t> la </a:t>
            </a:r>
            <a:r>
              <a:rPr sz="1200" dirty="0" err="1">
                <a:solidFill>
                  <a:srgbClr val="F4F7FA"/>
                </a:solidFill>
                <a:latin typeface="Roboto Condensed"/>
              </a:rPr>
              <a:t>combinación</a:t>
            </a:r>
            <a:r>
              <a:rPr sz="1200" dirty="0">
                <a:solidFill>
                  <a:srgbClr val="F4F7FA"/>
                </a:solidFill>
                <a:latin typeface="Roboto Condensed"/>
              </a:rPr>
              <a:t> </a:t>
            </a:r>
            <a:r>
              <a:rPr sz="1200" dirty="0" err="1">
                <a:solidFill>
                  <a:srgbClr val="F4F7FA"/>
                </a:solidFill>
                <a:latin typeface="Roboto Condensed"/>
              </a:rPr>
              <a:t>tarifa</a:t>
            </a:r>
            <a:r>
              <a:rPr sz="1200" dirty="0">
                <a:solidFill>
                  <a:srgbClr val="F4F7FA"/>
                </a:solidFill>
                <a:latin typeface="Roboto Condensed"/>
              </a:rPr>
              <a:t> + </a:t>
            </a:r>
            <a:r>
              <a:rPr sz="1200" dirty="0" err="1">
                <a:solidFill>
                  <a:srgbClr val="F4F7FA"/>
                </a:solidFill>
                <a:latin typeface="Roboto Condensed"/>
              </a:rPr>
              <a:t>calendario</a:t>
            </a:r>
            <a:r>
              <a:rPr sz="1200" dirty="0">
                <a:solidFill>
                  <a:srgbClr val="F4F7FA"/>
                </a:solidFill>
                <a:latin typeface="Roboto Condensed"/>
              </a:rPr>
              <a:t>.</a:t>
            </a:r>
          </a:p>
        </p:txBody>
      </p:sp>
      <p:sp>
        <p:nvSpPr>
          <p:cNvPr id="17" name="Oval 16"/>
          <p:cNvSpPr/>
          <p:nvPr/>
        </p:nvSpPr>
        <p:spPr>
          <a:xfrm>
            <a:off x="8656320" y="4714240"/>
            <a:ext cx="76200" cy="762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34120" y="4663440"/>
            <a:ext cx="250444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ES" sz="1200" dirty="0">
                <a:solidFill>
                  <a:srgbClr val="F4F7FA"/>
                </a:solidFill>
                <a:latin typeface="Roboto Condensed"/>
              </a:rPr>
              <a:t>Con </a:t>
            </a:r>
            <a:r>
              <a:rPr lang="es-ES" sz="1200" dirty="0" err="1">
                <a:solidFill>
                  <a:srgbClr val="F4F7FA"/>
                </a:solidFill>
                <a:latin typeface="Roboto Condensed"/>
              </a:rPr>
              <a:t>Tª</a:t>
            </a:r>
            <a:r>
              <a:rPr lang="es-ES" sz="1200" dirty="0">
                <a:solidFill>
                  <a:srgbClr val="F4F7FA"/>
                </a:solidFill>
                <a:latin typeface="Roboto Condensed"/>
              </a:rPr>
              <a:t> altas, el consumo relativo tiende a bajar.</a:t>
            </a:r>
          </a:p>
          <a:p>
            <a:endParaRPr sz="1200" dirty="0">
              <a:solidFill>
                <a:srgbClr val="F4F7FA"/>
              </a:solidFill>
              <a:latin typeface="Roboto Condensed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56320" y="5486400"/>
            <a:ext cx="268224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30" b="1">
                <a:solidFill>
                  <a:srgbClr val="D4AF37"/>
                </a:solidFill>
                <a:latin typeface="Roboto Condensed"/>
              </a:rPr>
              <a:t>H1 queda como señal exploratoria, no causal.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2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509760" y="-2057400"/>
            <a:ext cx="6583680" cy="6309360"/>
          </a:xfrm>
          <a:prstGeom prst="ellipse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50880" y="-960120"/>
            <a:ext cx="3169920" cy="3017520"/>
          </a:xfrm>
          <a:prstGeom prst="ellipse">
            <a:avLst/>
          </a:prstGeom>
          <a:solidFill>
            <a:srgbClr val="2B5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70560" y="6343650"/>
            <a:ext cx="10850880" cy="17145"/>
          </a:xfrm>
          <a:prstGeom prst="rect">
            <a:avLst/>
          </a:prstGeom>
          <a:solidFill>
            <a:srgbClr val="29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0560" y="397764"/>
            <a:ext cx="10241280" cy="480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1">
                <a:solidFill>
                  <a:srgbClr val="39C5F6"/>
                </a:solidFill>
                <a:latin typeface="Roboto Condensed"/>
              </a:rPr>
              <a:t>09. H2-H3 · EXPOSICIÓN TARIFARIA Y COSTE ESTIMADO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70560" y="946404"/>
            <a:ext cx="1085088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0560" y="6480810"/>
            <a:ext cx="5120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7B2C0"/>
                </a:solidFill>
                <a:latin typeface="Montserrat"/>
              </a:rPr>
              <a:t>EDA · Optimización Energética Industrial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0508"/>
            <a:ext cx="609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F4F7FA"/>
                </a:solidFill>
                <a:latin typeface="Roboto Condensed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0560" y="1165860"/>
            <a:ext cx="5852160" cy="562356"/>
          </a:xfrm>
          <a:prstGeom prst="roundRect">
            <a:avLst/>
          </a:prstGeom>
          <a:solidFill>
            <a:srgbClr val="173D60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5385" y="1289303"/>
            <a:ext cx="5442508" cy="377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60" b="1">
                <a:solidFill>
                  <a:srgbClr val="F4F7FA"/>
                </a:solidFill>
                <a:latin typeface="Roboto Condensed"/>
              </a:rPr>
              <a:t>H2: una parte relevante del consumo puede concentrarse en periodos caros. H3: el impacto económico depende del periodo tarifario en el que se consume.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0560" y="2125980"/>
            <a:ext cx="7071359" cy="3360420"/>
          </a:xfrm>
          <a:prstGeom prst="roundRect">
            <a:avLst/>
          </a:prstGeom>
          <a:solidFill>
            <a:srgbClr val="16304B"/>
          </a:solidFill>
          <a:ln>
            <a:solidFill>
              <a:srgbClr val="486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h3_peso_consumo_vs_cos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597" y="2220071"/>
            <a:ext cx="6049283" cy="31722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46720" y="1645920"/>
            <a:ext cx="3535679" cy="480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D4AF37"/>
                </a:solidFill>
                <a:latin typeface="Roboto Condensed"/>
              </a:rPr>
              <a:t>Una vez analizado el clima, pasamos al núcleo económico: dónde pesa más cada kWh.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400300"/>
            <a:ext cx="32918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>
                <a:solidFill>
                  <a:srgbClr val="F4F7FA"/>
                </a:solidFill>
                <a:latin typeface="Roboto Condensed"/>
              </a:rPr>
              <a:t>Comparar peso energético y peso económico permite localizar dónde cada kWh tiene mayor impacto.</a:t>
            </a:r>
          </a:p>
        </p:txBody>
      </p:sp>
      <p:sp>
        <p:nvSpPr>
          <p:cNvPr id="15" name="Oval 14"/>
          <p:cNvSpPr/>
          <p:nvPr/>
        </p:nvSpPr>
        <p:spPr>
          <a:xfrm>
            <a:off x="8046720" y="3548380"/>
            <a:ext cx="76200" cy="762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4520" y="3497580"/>
            <a:ext cx="311404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>
                <a:solidFill>
                  <a:srgbClr val="F4F7FA"/>
                </a:solidFill>
                <a:latin typeface="Roboto Condensed"/>
              </a:rPr>
              <a:t>Un kWh en periodo caro pesa más.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0" y="4097020"/>
            <a:ext cx="76200" cy="762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4520" y="4046220"/>
            <a:ext cx="311404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>
                <a:solidFill>
                  <a:srgbClr val="F4F7FA"/>
                </a:solidFill>
                <a:latin typeface="Roboto Condensed"/>
              </a:rPr>
              <a:t>El coste puede superar al peso del consumo.</a:t>
            </a:r>
          </a:p>
        </p:txBody>
      </p:sp>
      <p:sp>
        <p:nvSpPr>
          <p:cNvPr id="19" name="Oval 18"/>
          <p:cNvSpPr/>
          <p:nvPr/>
        </p:nvSpPr>
        <p:spPr>
          <a:xfrm>
            <a:off x="8046720" y="4645660"/>
            <a:ext cx="76200" cy="762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4520" y="4594860"/>
            <a:ext cx="311404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>
                <a:solidFill>
                  <a:srgbClr val="F4F7FA"/>
                </a:solidFill>
                <a:latin typeface="Roboto Condensed"/>
              </a:rPr>
              <a:t>La decisión debe mirar kWh + tarifa.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9200" y="5932170"/>
            <a:ext cx="975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>
                <a:solidFill>
                  <a:srgbClr val="D4AF37"/>
                </a:solidFill>
                <a:latin typeface="Roboto Condensed"/>
              </a:rPr>
              <a:t>Optimización económica = consumir mejor, no solo consumir menos.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2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509760" y="-2057400"/>
            <a:ext cx="6583680" cy="6309360"/>
          </a:xfrm>
          <a:prstGeom prst="ellipse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50880" y="-960120"/>
            <a:ext cx="3169920" cy="3017520"/>
          </a:xfrm>
          <a:prstGeom prst="ellipse">
            <a:avLst/>
          </a:prstGeom>
          <a:solidFill>
            <a:srgbClr val="2B5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70560" y="6343650"/>
            <a:ext cx="10850880" cy="17145"/>
          </a:xfrm>
          <a:prstGeom prst="rect">
            <a:avLst/>
          </a:prstGeom>
          <a:solidFill>
            <a:srgbClr val="29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0560" y="397764"/>
            <a:ext cx="10241280" cy="480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1">
                <a:solidFill>
                  <a:srgbClr val="39C5F6"/>
                </a:solidFill>
                <a:latin typeface="Roboto Condensed"/>
              </a:rPr>
              <a:t>10. H3 · FOCO ECONÓMICO: P1 + P2</a:t>
            </a:r>
          </a:p>
        </p:txBody>
      </p:sp>
      <p:sp>
        <p:nvSpPr>
          <p:cNvPr id="6" name="Rectangle 5"/>
          <p:cNvSpPr/>
          <p:nvPr/>
        </p:nvSpPr>
        <p:spPr>
          <a:xfrm>
            <a:off x="670560" y="946404"/>
            <a:ext cx="1085088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0560" y="6480810"/>
            <a:ext cx="5120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7B2C0"/>
                </a:solidFill>
                <a:latin typeface="Montserrat"/>
              </a:rPr>
              <a:t>EDA · Optimización Energética Industrial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0508"/>
            <a:ext cx="609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F4F7FA"/>
                </a:solidFill>
                <a:latin typeface="Roboto Condensed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60" y="1234440"/>
            <a:ext cx="950976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>
                <a:solidFill>
                  <a:srgbClr val="F4F7FA"/>
                </a:solidFill>
                <a:latin typeface="Roboto Condensed"/>
              </a:rPr>
              <a:t>Los periodos caros concentran el mayor impacto económico relativo.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0560" y="2057400"/>
            <a:ext cx="2682240" cy="1371600"/>
          </a:xfrm>
          <a:prstGeom prst="roundRect">
            <a:avLst/>
          </a:prstGeom>
          <a:solidFill>
            <a:srgbClr val="173D60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3" y="2221992"/>
            <a:ext cx="2255520" cy="480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>
                <a:solidFill>
                  <a:srgbClr val="D4AF37"/>
                </a:solidFill>
                <a:latin typeface="Roboto Condensed"/>
              </a:rPr>
              <a:t>72,7%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3" y="2777490"/>
            <a:ext cx="2255520" cy="480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>
                <a:solidFill>
                  <a:srgbClr val="F4F7FA"/>
                </a:solidFill>
                <a:latin typeface="Roboto Condensed"/>
              </a:rPr>
              <a:t>del coste estimado</a:t>
            </a:r>
          </a:p>
          <a:p>
            <a:r>
              <a:rPr sz="1400" b="1">
                <a:solidFill>
                  <a:srgbClr val="F4F7FA"/>
                </a:solidFill>
                <a:latin typeface="Roboto Condensed"/>
              </a:rPr>
              <a:t>en P1+P2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0560" y="3771900"/>
            <a:ext cx="2682240" cy="1097280"/>
          </a:xfrm>
          <a:prstGeom prst="roundRect">
            <a:avLst/>
          </a:prstGeom>
          <a:solidFill>
            <a:srgbClr val="16304B"/>
          </a:solidFill>
          <a:ln>
            <a:solidFill>
              <a:srgbClr val="486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7823" y="3943349"/>
            <a:ext cx="2255520" cy="377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>
                <a:solidFill>
                  <a:srgbClr val="39C5F6"/>
                </a:solidFill>
                <a:latin typeface="Roboto Condensed"/>
              </a:rPr>
              <a:t>38,4%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3" y="4354830"/>
            <a:ext cx="22555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dirty="0">
                <a:solidFill>
                  <a:srgbClr val="F4F7FA"/>
                </a:solidFill>
                <a:latin typeface="Roboto Condensed"/>
              </a:rPr>
              <a:t>del </a:t>
            </a:r>
            <a:r>
              <a:rPr sz="1300" b="1" dirty="0" err="1">
                <a:solidFill>
                  <a:srgbClr val="F4F7FA"/>
                </a:solidFill>
                <a:latin typeface="Roboto Condensed"/>
              </a:rPr>
              <a:t>consumo</a:t>
            </a:r>
            <a:endParaRPr sz="1300" b="1" dirty="0">
              <a:solidFill>
                <a:srgbClr val="F4F7FA"/>
              </a:solidFill>
              <a:latin typeface="Roboto Condensed"/>
            </a:endParaRPr>
          </a:p>
          <a:p>
            <a:r>
              <a:rPr sz="1300" b="1" dirty="0" err="1">
                <a:solidFill>
                  <a:srgbClr val="F4F7FA"/>
                </a:solidFill>
                <a:latin typeface="Roboto Condensed"/>
              </a:rPr>
              <a:t>en</a:t>
            </a:r>
            <a:r>
              <a:rPr sz="1300" b="1" dirty="0">
                <a:solidFill>
                  <a:srgbClr val="F4F7FA"/>
                </a:solidFill>
                <a:latin typeface="Roboto Condensed"/>
              </a:rPr>
              <a:t> P</a:t>
            </a:r>
            <a:r>
              <a:rPr lang="es-ES" sz="1300" b="1" dirty="0">
                <a:solidFill>
                  <a:srgbClr val="F4F7FA"/>
                </a:solidFill>
                <a:latin typeface="Roboto Condensed"/>
              </a:rPr>
              <a:t>3 </a:t>
            </a:r>
            <a:r>
              <a:rPr sz="1300" b="1" dirty="0">
                <a:solidFill>
                  <a:srgbClr val="F4F7FA"/>
                </a:solidFill>
                <a:latin typeface="Roboto Condensed"/>
              </a:rPr>
              <a:t>+</a:t>
            </a:r>
            <a:r>
              <a:rPr lang="es-ES" sz="1300" b="1" dirty="0">
                <a:solidFill>
                  <a:srgbClr val="F4F7FA"/>
                </a:solidFill>
                <a:latin typeface="Roboto Condensed"/>
              </a:rPr>
              <a:t> </a:t>
            </a:r>
            <a:r>
              <a:rPr sz="1300" b="1" dirty="0">
                <a:solidFill>
                  <a:srgbClr val="F4F7FA"/>
                </a:solidFill>
                <a:latin typeface="Roboto Condensed"/>
              </a:rPr>
              <a:t>P</a:t>
            </a:r>
            <a:r>
              <a:rPr lang="es-ES" sz="1300" b="1" dirty="0">
                <a:solidFill>
                  <a:srgbClr val="F4F7FA"/>
                </a:solidFill>
                <a:latin typeface="Roboto Condensed"/>
              </a:rPr>
              <a:t>4 + P5 + P6</a:t>
            </a:r>
            <a:endParaRPr sz="1300" b="1" dirty="0">
              <a:solidFill>
                <a:srgbClr val="F4F7FA"/>
              </a:solidFill>
              <a:latin typeface="Roboto Condense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70560" y="5349240"/>
            <a:ext cx="3413760" cy="480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20" b="1">
                <a:solidFill>
                  <a:srgbClr val="D4AF37"/>
                </a:solidFill>
                <a:latin typeface="Roboto Condensed"/>
              </a:rPr>
              <a:t>Lectura: si el coste pesa más que el consumo, la oportunidad está en el calendario tarifario.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45280" y="1714500"/>
            <a:ext cx="7193280" cy="3840480"/>
          </a:xfrm>
          <a:prstGeom prst="roundRect">
            <a:avLst/>
          </a:prstGeom>
          <a:solidFill>
            <a:srgbClr val="16304B"/>
          </a:solidFill>
          <a:ln>
            <a:solidFill>
              <a:srgbClr val="486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h3_coste_unitario_perio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373" y="1822033"/>
            <a:ext cx="6911092" cy="362541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2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509760" y="-2057400"/>
            <a:ext cx="6583680" cy="6309360"/>
          </a:xfrm>
          <a:prstGeom prst="ellipse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50880" y="-960120"/>
            <a:ext cx="3169920" cy="3017520"/>
          </a:xfrm>
          <a:prstGeom prst="ellipse">
            <a:avLst/>
          </a:prstGeom>
          <a:solidFill>
            <a:srgbClr val="2B5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70560" y="6343650"/>
            <a:ext cx="10850880" cy="17145"/>
          </a:xfrm>
          <a:prstGeom prst="rect">
            <a:avLst/>
          </a:prstGeom>
          <a:solidFill>
            <a:srgbClr val="29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0560" y="397764"/>
            <a:ext cx="10241280" cy="480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1">
                <a:solidFill>
                  <a:srgbClr val="39C5F6"/>
                </a:solidFill>
                <a:latin typeface="Roboto Condensed"/>
              </a:rPr>
              <a:t>11. H4 · SIMULACIÓN: CAMBIAR HORARIO SIN CAMBIAR kWh</a:t>
            </a:r>
          </a:p>
        </p:txBody>
      </p:sp>
      <p:sp>
        <p:nvSpPr>
          <p:cNvPr id="6" name="Rectangle 5"/>
          <p:cNvSpPr/>
          <p:nvPr/>
        </p:nvSpPr>
        <p:spPr>
          <a:xfrm>
            <a:off x="670560" y="946404"/>
            <a:ext cx="1085088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0560" y="6480810"/>
            <a:ext cx="5120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7B2C0"/>
                </a:solidFill>
                <a:latin typeface="Montserrat"/>
              </a:rPr>
              <a:t>EDA · Optimización Energética Industrial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0508"/>
            <a:ext cx="609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F4F7FA"/>
                </a:solidFill>
                <a:latin typeface="Roboto Condensed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0560" y="1165860"/>
            <a:ext cx="6096000" cy="562356"/>
          </a:xfrm>
          <a:prstGeom prst="roundRect">
            <a:avLst/>
          </a:prstGeom>
          <a:solidFill>
            <a:srgbClr val="173D60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3920" y="1289303"/>
            <a:ext cx="5669280" cy="377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20" b="1">
                <a:solidFill>
                  <a:srgbClr val="F4F7FA"/>
                </a:solidFill>
                <a:latin typeface="Roboto Condensed"/>
              </a:rPr>
              <a:t>H4: el cambio de turnos u horarios de trabajo puede afectar al coste energético estimado de la planta.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" y="2125980"/>
            <a:ext cx="9144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D4AF37"/>
                </a:solidFill>
                <a:latin typeface="Roboto Condensed"/>
              </a:rPr>
              <a:t>Para cerrar el EDA, simulamos un cambio sencillo: adelantar 2 horas el patrón de consumo.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60" y="2606040"/>
            <a:ext cx="9753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>
                <a:solidFill>
                  <a:srgbClr val="F4F7FA"/>
                </a:solidFill>
                <a:latin typeface="Roboto Condensed"/>
              </a:rPr>
              <a:t>El consumo anual se mantiene. Lo que cambia es la hora donde cae la carga y, por tanto, el periodo tarifario asociado.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0560" y="3429000"/>
            <a:ext cx="5120640" cy="2194560"/>
          </a:xfrm>
          <a:prstGeom prst="roundRect">
            <a:avLst/>
          </a:prstGeom>
          <a:solidFill>
            <a:srgbClr val="16304B"/>
          </a:solidFill>
          <a:ln>
            <a:solidFill>
              <a:srgbClr val="486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685" y="3490447"/>
            <a:ext cx="3342387" cy="207166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339840" y="3429000"/>
            <a:ext cx="5120640" cy="2194560"/>
          </a:xfrm>
          <a:prstGeom prst="roundRect">
            <a:avLst/>
          </a:prstGeom>
          <a:solidFill>
            <a:srgbClr val="16304B"/>
          </a:solidFill>
          <a:ln>
            <a:solidFill>
              <a:srgbClr val="486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927" y="3490447"/>
            <a:ext cx="3762464" cy="20716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19200" y="5932170"/>
            <a:ext cx="975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>
                <a:solidFill>
                  <a:srgbClr val="D4AF37"/>
                </a:solidFill>
                <a:latin typeface="Roboto Condensed"/>
              </a:rPr>
              <a:t>Insight: el horario puede ser una palanca económica, siempre sujeto a restricciones reales de producción.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66617" y="917055"/>
            <a:ext cx="3337560" cy="1143000"/>
          </a:xfrm>
          <a:prstGeom prst="roundRect">
            <a:avLst/>
          </a:prstGeom>
          <a:solidFill>
            <a:srgbClr val="0E182B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400" b="1">
                <a:solidFill>
                  <a:srgbClr val="D4AF37"/>
                </a:solidFill>
                <a:latin typeface="Roboto Condensed"/>
              </a:rPr>
              <a:t>−11,12%</a:t>
            </a:r>
          </a:p>
          <a:p>
            <a:pPr algn="ctr"/>
            <a:r>
              <a:rPr sz="1200">
                <a:solidFill>
                  <a:srgbClr val="F4F7FA"/>
                </a:solidFill>
                <a:latin typeface="Roboto Condensed"/>
              </a:rPr>
              <a:t>ahorro estimado al adelantar 2 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2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509760" y="-2057400"/>
            <a:ext cx="6583680" cy="6309360"/>
          </a:xfrm>
          <a:prstGeom prst="ellipse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50880" y="-960120"/>
            <a:ext cx="3169920" cy="3017520"/>
          </a:xfrm>
          <a:prstGeom prst="ellipse">
            <a:avLst/>
          </a:prstGeom>
          <a:solidFill>
            <a:srgbClr val="2B5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70560" y="6343650"/>
            <a:ext cx="10850880" cy="17145"/>
          </a:xfrm>
          <a:prstGeom prst="rect">
            <a:avLst/>
          </a:prstGeom>
          <a:solidFill>
            <a:srgbClr val="29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0560" y="397764"/>
            <a:ext cx="10241280" cy="480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1">
                <a:solidFill>
                  <a:srgbClr val="39C5F6"/>
                </a:solidFill>
                <a:latin typeface="Roboto Condensed"/>
              </a:rPr>
              <a:t>12. DE EDA A DECISIÓN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670560" y="946404"/>
            <a:ext cx="1085088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0560" y="6480810"/>
            <a:ext cx="5120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dirty="0">
                <a:solidFill>
                  <a:srgbClr val="A7B2C0"/>
                </a:solidFill>
                <a:latin typeface="Montserrat"/>
              </a:rPr>
              <a:t>EDA · </a:t>
            </a:r>
            <a:r>
              <a:rPr sz="800" b="0" dirty="0" err="1">
                <a:solidFill>
                  <a:srgbClr val="A7B2C0"/>
                </a:solidFill>
                <a:latin typeface="Montserrat"/>
              </a:rPr>
              <a:t>Optimización</a:t>
            </a:r>
            <a:r>
              <a:rPr sz="800" b="0" dirty="0">
                <a:solidFill>
                  <a:srgbClr val="A7B2C0"/>
                </a:solidFill>
                <a:latin typeface="Montserrat"/>
              </a:rPr>
              <a:t> Energética Industrial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0508"/>
            <a:ext cx="609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F4F7FA"/>
                </a:solidFill>
                <a:latin typeface="Roboto Condensed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60" y="1234440"/>
            <a:ext cx="85344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F4F7FA"/>
                </a:solidFill>
                <a:latin typeface="Roboto Condensed"/>
              </a:rPr>
              <a:t>El EDA termina cuando se convierte en una pauta de decisión operativa.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31720"/>
            <a:ext cx="4754880" cy="1165860"/>
          </a:xfrm>
          <a:prstGeom prst="roundRect">
            <a:avLst/>
          </a:prstGeom>
          <a:solidFill>
            <a:srgbClr val="16304B"/>
          </a:solidFill>
          <a:ln>
            <a:solidFill>
              <a:srgbClr val="486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5360" y="2606040"/>
            <a:ext cx="48768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D4AF37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551176"/>
            <a:ext cx="3413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D4AF37"/>
                </a:solidFill>
                <a:latin typeface="Roboto Condensed"/>
              </a:rPr>
              <a:t>Medir por hora y turno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914650"/>
            <a:ext cx="3413760" cy="480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>
                <a:solidFill>
                  <a:srgbClr val="F4F7FA"/>
                </a:solidFill>
                <a:latin typeface="Roboto Condensed"/>
              </a:rPr>
              <a:t>Revisar consumos por hora, turno y periodo antes de actuar.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61760" y="2331720"/>
            <a:ext cx="4754880" cy="1165860"/>
          </a:xfrm>
          <a:prstGeom prst="roundRect">
            <a:avLst/>
          </a:prstGeom>
          <a:solidFill>
            <a:srgbClr val="16304B"/>
          </a:solidFill>
          <a:ln>
            <a:solidFill>
              <a:srgbClr val="486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05600" y="2606040"/>
            <a:ext cx="48768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D4AF37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76160" y="2551176"/>
            <a:ext cx="3413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D4AF37"/>
                </a:solidFill>
                <a:latin typeface="Roboto Condensed"/>
              </a:rPr>
              <a:t>Localizar exposición a P1-P2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76160" y="2914650"/>
            <a:ext cx="3413760" cy="480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>
                <a:solidFill>
                  <a:srgbClr val="F4F7FA"/>
                </a:solidFill>
                <a:latin typeface="Roboto Condensed"/>
              </a:rPr>
              <a:t>Identificar procesos en periodos caros y valorar flexibilidad operativa.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77639"/>
            <a:ext cx="4754880" cy="1165860"/>
          </a:xfrm>
          <a:prstGeom prst="roundRect">
            <a:avLst/>
          </a:prstGeom>
          <a:solidFill>
            <a:srgbClr val="16304B"/>
          </a:solidFill>
          <a:ln>
            <a:solidFill>
              <a:srgbClr val="486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5360" y="4251960"/>
            <a:ext cx="48768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D4AF37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197096"/>
            <a:ext cx="3413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D4AF37"/>
                </a:solidFill>
                <a:latin typeface="Roboto Condensed"/>
              </a:rPr>
              <a:t>Simular escenarios horarios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560569"/>
            <a:ext cx="3413760" cy="480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>
                <a:solidFill>
                  <a:srgbClr val="F4F7FA"/>
                </a:solidFill>
                <a:latin typeface="Roboto Condensed"/>
              </a:rPr>
              <a:t>Simular cambios antes de modificar turnos, equipos o producción.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760" y="3977639"/>
            <a:ext cx="4754880" cy="1165860"/>
          </a:xfrm>
          <a:prstGeom prst="roundRect">
            <a:avLst/>
          </a:prstGeom>
          <a:solidFill>
            <a:srgbClr val="16304B"/>
          </a:solidFill>
          <a:ln>
            <a:solidFill>
              <a:srgbClr val="486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05600" y="4251960"/>
            <a:ext cx="48768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D4AF37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6160" y="4197096"/>
            <a:ext cx="3413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D4AF37"/>
                </a:solidFill>
                <a:latin typeface="Roboto Condensed"/>
              </a:rPr>
              <a:t>Validar con coste real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76160" y="4560569"/>
            <a:ext cx="3413760" cy="480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>
                <a:solidFill>
                  <a:srgbClr val="F4F7FA"/>
                </a:solidFill>
                <a:latin typeface="Roboto Condensed"/>
              </a:rPr>
              <a:t>Incorporar producción, potencia contratada, factura completa y restricciones operativas.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9200" y="5932170"/>
            <a:ext cx="975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>
                <a:solidFill>
                  <a:srgbClr val="D4AF37"/>
                </a:solidFill>
                <a:latin typeface="Roboto Condensed"/>
              </a:rPr>
              <a:t>Ruta práctica: medir → simular → validar → decidir.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2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509760" y="-2057400"/>
            <a:ext cx="6583680" cy="6309360"/>
          </a:xfrm>
          <a:prstGeom prst="ellipse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50880" y="-960120"/>
            <a:ext cx="3169920" cy="3017520"/>
          </a:xfrm>
          <a:prstGeom prst="ellipse">
            <a:avLst/>
          </a:prstGeom>
          <a:solidFill>
            <a:srgbClr val="2B5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70560" y="6343650"/>
            <a:ext cx="10850880" cy="17145"/>
          </a:xfrm>
          <a:prstGeom prst="rect">
            <a:avLst/>
          </a:prstGeom>
          <a:solidFill>
            <a:srgbClr val="29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0560" y="116586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400" b="1">
                <a:solidFill>
                  <a:srgbClr val="D4AF37"/>
                </a:solidFill>
                <a:latin typeface="Roboto Condensed"/>
              </a:rPr>
              <a:t>Idea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60" y="2125980"/>
            <a:ext cx="75590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>
                <a:solidFill>
                  <a:srgbClr val="F4F7FA"/>
                </a:solidFill>
                <a:latin typeface="Roboto Condensed"/>
              </a:rPr>
              <a:t>La optimización energética industrial no empieza reduciendo kWh; empieza entendiendo cuándo se consumen.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90560" y="1645920"/>
            <a:ext cx="2926080" cy="2606040"/>
          </a:xfrm>
          <a:prstGeom prst="roundRect">
            <a:avLst/>
          </a:prstGeom>
          <a:solidFill>
            <a:srgbClr val="173D60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0" y="2400300"/>
            <a:ext cx="231648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>
                <a:solidFill>
                  <a:srgbClr val="D4AF37"/>
                </a:solidFill>
                <a:latin typeface="Roboto Condensed"/>
              </a:rPr>
              <a:t>Medir → Integrar → Simular → Validar → Decidir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3634740"/>
            <a:ext cx="2316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>
                <a:solidFill>
                  <a:srgbClr val="F4F7FA"/>
                </a:solidFill>
                <a:latin typeface="Roboto Condensed"/>
              </a:rPr>
              <a:t>Del EDA a la gestión energética industrial.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16640" y="6352222"/>
            <a:ext cx="609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dirty="0">
                <a:solidFill>
                  <a:srgbClr val="F4F7FA"/>
                </a:solidFill>
                <a:latin typeface="Roboto Condensed"/>
              </a:rPr>
              <a:t>14</a:t>
            </a: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E5EB16DF-DDC6-CDDE-5C24-5020144D57DD}"/>
              </a:ext>
            </a:extLst>
          </p:cNvPr>
          <p:cNvSpPr txBox="1"/>
          <p:nvPr/>
        </p:nvSpPr>
        <p:spPr>
          <a:xfrm>
            <a:off x="670560" y="6480810"/>
            <a:ext cx="5120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dirty="0">
                <a:solidFill>
                  <a:srgbClr val="A7B2C0"/>
                </a:solidFill>
                <a:latin typeface="Montserrat"/>
              </a:rPr>
              <a:t>EDA · </a:t>
            </a:r>
            <a:r>
              <a:rPr sz="800" b="0" dirty="0" err="1">
                <a:solidFill>
                  <a:srgbClr val="A7B2C0"/>
                </a:solidFill>
                <a:latin typeface="Montserrat"/>
              </a:rPr>
              <a:t>Optimización</a:t>
            </a:r>
            <a:r>
              <a:rPr sz="800" b="0" dirty="0">
                <a:solidFill>
                  <a:srgbClr val="A7B2C0"/>
                </a:solidFill>
                <a:latin typeface="Montserrat"/>
              </a:rPr>
              <a:t> Energética Industrial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1338</Words>
  <Application>Microsoft Office PowerPoint</Application>
  <PresentationFormat>Panorámica</PresentationFormat>
  <Paragraphs>144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Calibri</vt:lpstr>
      <vt:lpstr>Montserrat</vt:lpstr>
      <vt:lpstr>Roboto Condensed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Dario</dc:creator>
  <cp:keywords/>
  <dc:description>generated using python-pptx</dc:description>
  <cp:lastModifiedBy>Juan J Garcia G</cp:lastModifiedBy>
  <cp:revision>6</cp:revision>
  <dcterms:created xsi:type="dcterms:W3CDTF">2013-01-27T09:14:16Z</dcterms:created>
  <dcterms:modified xsi:type="dcterms:W3CDTF">2026-05-14T23:08:39Z</dcterms:modified>
  <cp:category/>
</cp:coreProperties>
</file>